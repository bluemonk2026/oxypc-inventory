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D4ED8">
              <a:alpha val="6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0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OxyPC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Product Overview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944368"/>
            <a:ext cx="5303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9067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Refurbished Laptop Lifecycle · Dealer Management · CRM Pipeline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DB Tables · 270 Routes · 11 Roles · AI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OxyPC Technologies  ·  Internal Product Documentation  · 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896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261872"/>
            <a:ext cx="201168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2176272"/>
            <a:ext cx="201168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Tables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3090672"/>
            <a:ext cx="201168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Routes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4005072"/>
            <a:ext cx="201168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75488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89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OxyPC's refurbished laptop operations &amp; scale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883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modules across 4 functional categories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47548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Lifecycle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IQC → Repair → QC → Sales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392424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Management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6667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reconciliation, ageing &amp; credit notes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151376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425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Sales pipelines with shared activity log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15568"/>
            <a:ext cx="475488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1124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1389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technical stack &amp; integration map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874520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1883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 Layer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2148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tables, 13 contexts, 270 routes, 38 routers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633472"/>
            <a:ext cx="475488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12080" y="2642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Security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12080" y="29077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roles × 12 modules, JWT + CSRF protection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392424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1208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0" y="36667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19–25: Rule-based → ML → LLM Copilot → CV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151376"/>
            <a:ext cx="47548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1208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Results &amp; Status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12080" y="44256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tests · 22 scenarios · 0 failures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80560" y="105156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OxyPC Technologies — 15 years of refurbished 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OxyPC Technologies — At a Glance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refurbished laptops with full ERP integration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202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6936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Sold (Wholesale)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115568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207008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Yrs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31720" y="176936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115568"/>
            <a:ext cx="19202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207008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89120" y="176936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Revenue 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115568"/>
            <a:ext cx="19202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207008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R2v3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176936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ITAD Certified (Deshwal)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53035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87168"/>
            <a:ext cx="54864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786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OxyPC Does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9718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 enterprise laptops from MNCs, corporates &amp; OEM lease-returns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IQC → L1/L2/L3 Repair → QC → Cosmetic grading → Sales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wholesale to dealers and direct B2B buyers across India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device by IMEI/serial from purchase lot to final sale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OxyQC desktop app for automated device diagnostics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60720" y="2487168"/>
            <a:ext cx="31089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2487168"/>
            <a:ext cx="54864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2578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Mix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8932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MNCs / Corporates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29992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3255264"/>
            <a:ext cx="242316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3255264"/>
            <a:ext cx="12115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Leasing Returns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3547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3803904"/>
            <a:ext cx="242316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3803904"/>
            <a:ext cx="72694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ITAD Partners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0" y="4096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4352544"/>
            <a:ext cx="242316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4352544"/>
            <a:ext cx="48463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Blue Monk Venture · Sister cos: DEV IT SERV, Deshwal Waste Mgmt, Protaiga, Bluemonk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modules across 4 functional categories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Modules — Functional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4 categories covering the full device lifecycle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" y="149961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63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/ GRN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4248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lot tracking, goods received note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6616" y="178308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46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84248" y="1746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quality check per device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" y="206654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84248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/ L3 repair ticket management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" y="235000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13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84248" y="2313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Post-repair quality certification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" y="263347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5968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84248" y="2596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grading before stock entry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078992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78992"/>
            <a:ext cx="54864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133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SALES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91456" y="1499616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463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register with grade/spec filters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91456" y="1783080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1746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9088" y="1746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creation, invoicing, SOLD tagging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10896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108960"/>
            <a:ext cx="54864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63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CRM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6616" y="3529584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493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84248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master, credit limits, ageing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56616" y="38130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776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984248" y="3776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Sales pipelines, activities log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6616" y="4096512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0599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984248" y="4059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analytics &amp; export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108960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108960"/>
            <a:ext cx="54864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163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91456" y="352958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3493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19088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for all roles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91456" y="3813048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3776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19088" y="3776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mgmt, role assignment, settings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Lifecycle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purchase lot to SOLD — every step tracked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Lifecycle — End-to-End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stages from Lot Purchase to SOLD with branch paths for repair and scrap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960120" cy="86868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34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668780"/>
            <a:ext cx="1371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234440"/>
            <a:ext cx="96012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25880" y="1234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668780"/>
            <a:ext cx="1371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234440"/>
            <a:ext cx="9601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234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668780"/>
            <a:ext cx="1371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234440"/>
            <a:ext cx="9601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1234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L1/L2/L3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1668780"/>
            <a:ext cx="1371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234440"/>
            <a:ext cx="9601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234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1668780"/>
            <a:ext cx="1371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234440"/>
            <a:ext cx="960120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1234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668780"/>
            <a:ext cx="1371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1234440"/>
            <a:ext cx="96012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1234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(READY)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0" y="1668780"/>
            <a:ext cx="1371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1234440"/>
            <a:ext cx="9601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09560" y="1234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" y="1078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73352" y="1078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70632" y="1078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67912" y="1078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5192" y="1078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62472" y="1078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1078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57032" y="1078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" y="2267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Scrap / Return to Vendor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01368" y="2103120"/>
            <a:ext cx="0" cy="164592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143000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Direct to Stock (no repair needed)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→ L2 → L3 escalation path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FAIL → Back to Repair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2971800"/>
            <a:ext cx="233172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2971800"/>
            <a:ext cx="54864" cy="1801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0449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/ GRN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3364992"/>
            <a:ext cx="2057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Vendor, price per unit, total devices, lot ID recorded at intake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0" y="2971800"/>
            <a:ext cx="233172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0" y="2971800"/>
            <a:ext cx="54864" cy="1801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23160" y="30449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IQC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423160" y="3364992"/>
            <a:ext cx="2057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Power-on, port check, battery %, screen, keyboard. Pass/Fail/Scrap per device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34840" y="2971800"/>
            <a:ext cx="233172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34840" y="2971800"/>
            <a:ext cx="54864" cy="1801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0449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0" y="3364992"/>
            <a:ext cx="2057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raised with fault codes. Parts consumed from spare stock. L1→L2→L3 escalation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92240" y="2971800"/>
            <a:ext cx="233172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92240" y="2971800"/>
            <a:ext cx="54864" cy="1801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9400" y="30449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→ Sales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629400" y="3364992"/>
            <a:ext cx="2057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A/B/C assigned. Priced by grade. Invoiced with GST to dealer or direct buyer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Management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reconciliation, ageing buckets &amp; credit notes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Management &amp; Financial Reconciliation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dealer lifecycle: onboarding → orders → payments → ageing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057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54864" cy="374904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97280"/>
            <a:ext cx="2057400" cy="45720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Master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number, PAN, contact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109728" cy="109728"/>
          </a:xfrm>
          <a:prstGeom prst="ellipse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9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 &amp; payment terms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109728" cy="109728"/>
          </a:xfrm>
          <a:prstGeom prst="ellipse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98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tier classification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01568"/>
            <a:ext cx="109728" cy="109728"/>
          </a:xfrm>
          <a:prstGeom prst="ellipse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467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 entry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205740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1097280"/>
            <a:ext cx="2057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23160" y="1097280"/>
            <a:ext cx="54864" cy="3749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1097280"/>
            <a:ext cx="20574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Invoice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17556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Device-level sales order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230428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249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invoice generation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28529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798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 codes auto-filled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0" y="340156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3467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for dealer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80560" y="205740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1097280"/>
            <a:ext cx="2057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097280"/>
            <a:ext cx="54864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1097280"/>
            <a:ext cx="2057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17556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NEFT / Cheque / Cash log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230428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249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payments supported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285292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798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vouchers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40156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3467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 maintained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75120" y="205740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12280" y="1097280"/>
            <a:ext cx="2057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1097280"/>
            <a:ext cx="54864" cy="3749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1097280"/>
            <a:ext cx="20574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85432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&amp; Reconciliation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49440" y="175564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/ 31–60 / 61–90 / 90+ buckets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49440" y="230428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2249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notes for returns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49440" y="28529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2798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flagging by role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949440" y="340156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0" y="33467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statement PDF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Indian ITAD reality — OxyPC often pays vendors upfront for lots, then recovers through dealer sales. Tight ageing control is mission-critical.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pipeline: Sourcing (supplier) &amp; Sales (buyer)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— Dual Pipeline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pipeline feeds inventory; Sales pipeline converts to revenue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069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54864" cy="3840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40690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PIPELINE  (Supplier Side)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3840480" cy="40233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002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93976"/>
            <a:ext cx="384048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939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Contacted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87752"/>
            <a:ext cx="38404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587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Quote Sent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81528"/>
            <a:ext cx="384048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815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Negotiation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75304"/>
            <a:ext cx="384048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5753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Lot Confirmed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069080"/>
            <a:ext cx="384048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0690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GRN Done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4069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51560"/>
            <a:ext cx="54864" cy="3840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051560"/>
            <a:ext cx="40690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51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 (Buyer Side)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1600200"/>
            <a:ext cx="3840480" cy="40233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16002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Enquiry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093976"/>
            <a:ext cx="384048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0939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Requirement Captured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587752"/>
            <a:ext cx="384048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2587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Quote Sent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081528"/>
            <a:ext cx="384048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0815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Negotiation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3575304"/>
            <a:ext cx="384048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1768" y="35753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Order Confirmed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4069080"/>
            <a:ext cx="384048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40690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Invoiced &amp; Delivered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15968" y="1828800"/>
            <a:ext cx="512064" cy="2788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1828800"/>
            <a:ext cx="5120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· Emails · WhatsApp · Meetings · Notes — all linked to both pipelines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technical stack — fully on-premise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6-Layer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LAN deployment · No cloud dependency · Windows PC / Mini PC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1645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24128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USERS / CLIENTS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0" y="1069848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84832" y="106984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 (LAN Web UI · HTTP port 8000)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43400" y="1069848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06984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OxyQC EXE (Desktop · M2M API Key Auth)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0" y="1069848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48272" y="106984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 Business (QR session)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74520" y="1298448"/>
            <a:ext cx="137160" cy="0"/>
          </a:xfrm>
          <a:prstGeom prst="line">
            <a:avLst/>
          </a:prstGeom>
          <a:noFill/>
          <a:ln w="7620">
            <a:solidFill>
              <a:srgbClr val="2563EB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1874520" y="1298448"/>
            <a:ext cx="2468880" cy="0"/>
          </a:xfrm>
          <a:prstGeom prst="line">
            <a:avLst/>
          </a:prstGeom>
          <a:noFill/>
          <a:ln w="7620">
            <a:solidFill>
              <a:srgbClr val="2563EB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1874520" y="1298448"/>
            <a:ext cx="4800600" cy="0"/>
          </a:xfrm>
          <a:prstGeom prst="line">
            <a:avLst/>
          </a:prstGeom>
          <a:noFill/>
          <a:ln w="7620">
            <a:solidFill>
              <a:srgbClr val="2563EB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228600" y="1691640"/>
            <a:ext cx="16459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6916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APPLICATION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0" y="1737360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84832" y="1737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FastAPI (4 workers · 38 routers · 270 routes)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1737360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16552" y="1737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Uvicorn ASGI Server (async request handling)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737360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48272" y="1737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SlowAPI Rate Limiter (abuse prevention)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1965960"/>
            <a:ext cx="137160" cy="0"/>
          </a:xfrm>
          <a:prstGeom prst="line">
            <a:avLst/>
          </a:prstGeom>
          <a:noFill/>
          <a:ln w="7620">
            <a:solidFill>
              <a:srgbClr val="16A34A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1874520" y="1965960"/>
            <a:ext cx="2468880" cy="0"/>
          </a:xfrm>
          <a:prstGeom prst="line">
            <a:avLst/>
          </a:prstGeom>
          <a:noFill/>
          <a:ln w="7620">
            <a:solidFill>
              <a:srgbClr val="16A34A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1874520" y="1965960"/>
            <a:ext cx="4800600" cy="0"/>
          </a:xfrm>
          <a:prstGeom prst="line">
            <a:avLst/>
          </a:prstGeom>
          <a:noFill/>
          <a:ln w="7620">
            <a:solidFill>
              <a:srgbClr val="16A34A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228600" y="2359152"/>
            <a:ext cx="164592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359152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MIDDLEWARE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0" y="2404872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84832" y="24048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JWT Auth (cookie-based session tokens)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43400" y="2404872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16552" y="24048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CSRF Protection (26 mutation routers)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2404872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48272" y="24048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RBAC (11 roles · 12 modules · Jinja2)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74520" y="2633472"/>
            <a:ext cx="137160" cy="0"/>
          </a:xfrm>
          <a:prstGeom prst="line">
            <a:avLst/>
          </a:prstGeom>
          <a:noFill/>
          <a:ln w="7620">
            <a:solidFill>
              <a:srgbClr val="D97706"/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>
            <a:off x="1874520" y="2633472"/>
            <a:ext cx="2468880" cy="0"/>
          </a:xfrm>
          <a:prstGeom prst="line">
            <a:avLst/>
          </a:prstGeom>
          <a:noFill/>
          <a:ln w="7620">
            <a:solidFill>
              <a:srgbClr val="D97706"/>
            </a:solidFill>
            <a:prstDash val="sysDash"/>
          </a:ln>
        </p:spPr>
      </p:sp>
      <p:sp>
        <p:nvSpPr>
          <p:cNvPr id="37" name="Shape 35"/>
          <p:cNvSpPr/>
          <p:nvPr/>
        </p:nvSpPr>
        <p:spPr>
          <a:xfrm>
            <a:off x="1874520" y="2633472"/>
            <a:ext cx="4800600" cy="0"/>
          </a:xfrm>
          <a:prstGeom prst="line">
            <a:avLst/>
          </a:prstGeom>
          <a:noFill/>
          <a:ln w="7620">
            <a:solidFill>
              <a:srgbClr val="D97706"/>
            </a:solidFill>
            <a:prstDash val="sysDash"/>
          </a:ln>
        </p:spPr>
      </p:sp>
      <p:sp>
        <p:nvSpPr>
          <p:cNvPr id="38" name="Shape 36"/>
          <p:cNvSpPr/>
          <p:nvPr/>
        </p:nvSpPr>
        <p:spPr>
          <a:xfrm>
            <a:off x="228600" y="3026664"/>
            <a:ext cx="16459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3026664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— DATA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011680" y="3072384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084832" y="307238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PostgreSQL 15 (55 tables · 13 bounded contexts)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43400" y="3072384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416552" y="307238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asyncpg (non-blocking async DB driver)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75120" y="3072384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48272" y="307238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SQLAlchemy 2.0 (async ORM + Alembic migrations)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74520" y="3300984"/>
            <a:ext cx="137160" cy="0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47" name="Shape 45"/>
          <p:cNvSpPr/>
          <p:nvPr/>
        </p:nvSpPr>
        <p:spPr>
          <a:xfrm>
            <a:off x="1874520" y="3300984"/>
            <a:ext cx="2468880" cy="0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48" name="Shape 46"/>
          <p:cNvSpPr/>
          <p:nvPr/>
        </p:nvSpPr>
        <p:spPr>
          <a:xfrm>
            <a:off x="1874520" y="3300984"/>
            <a:ext cx="4800600" cy="0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49" name="Shape 47"/>
          <p:cNvSpPr/>
          <p:nvPr/>
        </p:nvSpPr>
        <p:spPr>
          <a:xfrm>
            <a:off x="228600" y="3694176"/>
            <a:ext cx="1645920" cy="5486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3694176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— INTEGRATIONS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011680" y="3739896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084832" y="373989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Node.js WA Service (port 3001 · whatsapp-web.js)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43400" y="3739896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416552" y="373989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 Business (outbound notifications)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675120" y="3739896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748272" y="373989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OxyQC API (API Key auth · device diagnostics)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74520" y="3968496"/>
            <a:ext cx="137160" cy="0"/>
          </a:xfrm>
          <a:prstGeom prst="line">
            <a:avLst/>
          </a:prstGeom>
          <a:noFill/>
          <a:ln w="7620">
            <a:solidFill>
              <a:srgbClr val="DB2777"/>
            </a:solidFill>
            <a:prstDash val="sysDash"/>
          </a:ln>
        </p:spPr>
      </p:sp>
      <p:sp>
        <p:nvSpPr>
          <p:cNvPr id="58" name="Shape 56"/>
          <p:cNvSpPr/>
          <p:nvPr/>
        </p:nvSpPr>
        <p:spPr>
          <a:xfrm>
            <a:off x="1874520" y="3968496"/>
            <a:ext cx="2468880" cy="0"/>
          </a:xfrm>
          <a:prstGeom prst="line">
            <a:avLst/>
          </a:prstGeom>
          <a:noFill/>
          <a:ln w="7620">
            <a:solidFill>
              <a:srgbClr val="DB2777"/>
            </a:solidFill>
            <a:prstDash val="sysDash"/>
          </a:ln>
        </p:spPr>
      </p:sp>
      <p:sp>
        <p:nvSpPr>
          <p:cNvPr id="59" name="Shape 57"/>
          <p:cNvSpPr/>
          <p:nvPr/>
        </p:nvSpPr>
        <p:spPr>
          <a:xfrm>
            <a:off x="1874520" y="3968496"/>
            <a:ext cx="4800600" cy="0"/>
          </a:xfrm>
          <a:prstGeom prst="line">
            <a:avLst/>
          </a:prstGeom>
          <a:noFill/>
          <a:ln w="7620">
            <a:solidFill>
              <a:srgbClr val="DB2777"/>
            </a:solidFill>
            <a:prstDash val="sysDash"/>
          </a:ln>
        </p:spPr>
      </p:sp>
      <p:sp>
        <p:nvSpPr>
          <p:cNvPr id="60" name="Shape 58"/>
          <p:cNvSpPr/>
          <p:nvPr/>
        </p:nvSpPr>
        <p:spPr>
          <a:xfrm>
            <a:off x="228600" y="4361688"/>
            <a:ext cx="1645920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4361688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— INFRASTRUCTURE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011680" y="4407408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2084832" y="440740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Windows PC / Mini PC (on-premise LAN)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343400" y="4407408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416552" y="440740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config.ini (gitignored secrets &amp; env config)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675120" y="4407408"/>
            <a:ext cx="217627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748272" y="440740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backups/ (pg_dump · 30-day retention · ~150MB)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874520" y="4636008"/>
            <a:ext cx="137160" cy="0"/>
          </a:xfrm>
          <a:prstGeom prst="line">
            <a:avLst/>
          </a:prstGeom>
          <a:noFill/>
          <a:ln w="7620">
            <a:solidFill>
              <a:srgbClr val="475569"/>
            </a:solidFill>
            <a:prstDash val="sysDash"/>
          </a:ln>
        </p:spPr>
      </p:sp>
      <p:sp>
        <p:nvSpPr>
          <p:cNvPr id="69" name="Shape 67"/>
          <p:cNvSpPr/>
          <p:nvPr/>
        </p:nvSpPr>
        <p:spPr>
          <a:xfrm>
            <a:off x="1874520" y="4636008"/>
            <a:ext cx="2468880" cy="0"/>
          </a:xfrm>
          <a:prstGeom prst="line">
            <a:avLst/>
          </a:prstGeom>
          <a:noFill/>
          <a:ln w="7620">
            <a:solidFill>
              <a:srgbClr val="475569"/>
            </a:solidFill>
            <a:prstDash val="sysDash"/>
          </a:ln>
        </p:spPr>
      </p:sp>
      <p:sp>
        <p:nvSpPr>
          <p:cNvPr id="70" name="Shape 68"/>
          <p:cNvSpPr/>
          <p:nvPr/>
        </p:nvSpPr>
        <p:spPr>
          <a:xfrm>
            <a:off x="1874520" y="4636008"/>
            <a:ext cx="4800600" cy="0"/>
          </a:xfrm>
          <a:prstGeom prst="line">
            <a:avLst/>
          </a:prstGeom>
          <a:noFill/>
          <a:ln w="7620">
            <a:solidFill>
              <a:srgbClr val="475569"/>
            </a:solidFill>
            <a:prstDash val="sysDash"/>
          </a:ln>
        </p:spPr>
      </p:sp>
      <p:sp>
        <p:nvSpPr>
          <p:cNvPr id="71" name="Shape 69"/>
          <p:cNvSpPr/>
          <p:nvPr/>
        </p:nvSpPr>
        <p:spPr>
          <a:xfrm>
            <a:off x="1051560" y="1572768"/>
            <a:ext cx="0" cy="9144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51560" y="2240280"/>
            <a:ext cx="0" cy="9144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1560" y="2907792"/>
            <a:ext cx="0" cy="9144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1560" y="3575304"/>
            <a:ext cx="0" cy="9144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51560" y="4242816"/>
            <a:ext cx="0" cy="9144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 Layer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tables · 13 bounded contexts · 270 routes · 38 routers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55 Tables across 13 Bounded Contexts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async ORM · PostgreSQL 15 · Alembic migrations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170432" cy="32004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/ GRN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5176" y="1435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81328" y="105156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81328" y="1051560"/>
            <a:ext cx="117043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17904" y="1435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517904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34056" y="105156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34056" y="1051560"/>
            <a:ext cx="1170432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70632" y="1435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770632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86784" y="105156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86784" y="1051560"/>
            <a:ext cx="1170432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1435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023360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39512" y="105156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39512" y="1051560"/>
            <a:ext cx="1170432" cy="3200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6088" y="1435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276088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105156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1051560"/>
            <a:ext cx="117043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28816" y="1435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528816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44968" y="105156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44968" y="1051560"/>
            <a:ext cx="1170432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1544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81544" y="1435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7781544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283464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2834640"/>
            <a:ext cx="1170432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5176" y="32186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265176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481328" y="283464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481328" y="2834640"/>
            <a:ext cx="117043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17904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517904" y="32186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1517904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34056" y="283464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34056" y="2834640"/>
            <a:ext cx="1170432" cy="320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70632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70632" y="32186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54" name="Text 52"/>
          <p:cNvSpPr/>
          <p:nvPr/>
        </p:nvSpPr>
        <p:spPr>
          <a:xfrm>
            <a:off x="2770632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986784" y="283464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986784" y="2834640"/>
            <a:ext cx="1170432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RBAC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023360" y="32186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4023360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39512" y="283464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239512" y="2834640"/>
            <a:ext cx="117043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76088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276088" y="32186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64" name="Text 62"/>
          <p:cNvSpPr/>
          <p:nvPr/>
        </p:nvSpPr>
        <p:spPr>
          <a:xfrm>
            <a:off x="5276088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92240" y="2834640"/>
            <a:ext cx="1170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92240" y="2834640"/>
            <a:ext cx="117043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28816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Config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28816" y="32186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69" name="Text 67"/>
          <p:cNvSpPr/>
          <p:nvPr/>
        </p:nvSpPr>
        <p:spPr>
          <a:xfrm>
            <a:off x="6528816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55 tables · Each context is independently migrated via Alembic · asyncpg driver ensures non-blocking I/O under load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— 270 Routes across 38 Router Modules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FastAPI routes · Jinja2 server-side rendering · JSON API for OxyQC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801368"/>
            <a:ext cx="19202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HTTP Routes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192024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188720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31720" y="1801368"/>
            <a:ext cx="19202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19202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188720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89120" y="1801368"/>
            <a:ext cx="19202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CSRF-Protected Routes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09728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188720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1801368"/>
            <a:ext cx="19202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Pages (Jinja2)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78608"/>
            <a:ext cx="5486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2734056"/>
            <a:ext cx="45720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2734056"/>
            <a:ext cx="374904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routes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26700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lots, iqc, repair (l1/l2/l3), qc, cosmetic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08152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8152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3236976"/>
            <a:ext cx="45720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236976"/>
            <a:ext cx="173736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routes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31729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stock-export, stock-search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58444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584448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Dealers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0" y="3739896"/>
            <a:ext cx="45720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3739896"/>
            <a:ext cx="246888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routes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0" y="36758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invoices, dealers, credit-notes, ageing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08736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087368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0" y="4242816"/>
            <a:ext cx="45720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0" y="4242816"/>
            <a:ext cx="164592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routes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286000" y="41788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crm-sourcing, crm-sales, activities, contacts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59028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590288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Auth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0" y="4745736"/>
            <a:ext cx="45720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0" y="4745736"/>
            <a:ext cx="2743200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routes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286000" y="46817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admin, users, roles, reports, dashboard, ws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Security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roles × 12 modules · JWT · CSRF · API Key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11 Roles × 12 Modules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Access granted  ·  — = No access  ·  Admin has universal access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74520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41448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008376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75304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42232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76088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43016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3016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9944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76872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43800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10728" y="1078992"/>
            <a:ext cx="539496" cy="32918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107899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141732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1417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74520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74520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441448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41448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008376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08376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575304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75304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42232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42232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9160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76088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76088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43016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43016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9944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9944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976872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76872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543800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43800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110728" y="141732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10728" y="141732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82880" y="1755648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1755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inventory_manager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74520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74520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441448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41448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008376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08376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575304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75304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142232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42232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709160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0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276088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76088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843016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43016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409944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9944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6976872" y="175564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76872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543800" y="175564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43800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8110728" y="175564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10728" y="175564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82880" y="2093976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600" y="20939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iqc_inspector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874520" y="209397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874520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2441448" y="209397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441448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3008376" y="209397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008376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575304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75304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142232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42232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709160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09160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276088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276088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843016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843016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409944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09944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976872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976872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7543800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543800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8110728" y="209397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10728" y="20939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182880" y="2432304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28600" y="243230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l1_engineer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1874520" y="2432304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874520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2441448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441448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3008376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008376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3575304" y="2432304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575304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4142232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142232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4709160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09160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5276088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276088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5843016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843016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6409944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409944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6976872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976872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7543800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543800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8110728" y="243230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110728" y="243230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82880" y="2770632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28600" y="2770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l2_engineer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874520" y="2770632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874520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2441448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441448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3008376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008376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3575304" y="2770632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575304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4142232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142232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4709160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709160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5276088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276088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5843016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843016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6409944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409944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6976872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976872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7543800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543800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8110728" y="277063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110728" y="277063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182880" y="310896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28600" y="3108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l3_engineer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1874520" y="310896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874520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2441448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441448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3008376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008376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3575304" y="310896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575304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>
            <a:off x="4142232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142232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1" name="Shape 169"/>
          <p:cNvSpPr/>
          <p:nvPr/>
        </p:nvSpPr>
        <p:spPr>
          <a:xfrm>
            <a:off x="4709160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709160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5276088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276088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>
            <a:off x="5843016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843016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6409944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409944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6976872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976872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1" name="Shape 179"/>
          <p:cNvSpPr/>
          <p:nvPr/>
        </p:nvSpPr>
        <p:spPr>
          <a:xfrm>
            <a:off x="7543800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543800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8110728" y="310896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110728" y="310896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182880" y="3447288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228600" y="34472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qc_inspector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1874520" y="344728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874520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9" name="Shape 187"/>
          <p:cNvSpPr/>
          <p:nvPr/>
        </p:nvSpPr>
        <p:spPr>
          <a:xfrm>
            <a:off x="2441448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441448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3008376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008376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3" name="Shape 191"/>
          <p:cNvSpPr/>
          <p:nvPr/>
        </p:nvSpPr>
        <p:spPr>
          <a:xfrm>
            <a:off x="3575304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3575304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4142232" y="3447288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142232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7" name="Shape 195"/>
          <p:cNvSpPr/>
          <p:nvPr/>
        </p:nvSpPr>
        <p:spPr>
          <a:xfrm>
            <a:off x="4709160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709160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5276088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276088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5843016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843016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3" name="Shape 201"/>
          <p:cNvSpPr/>
          <p:nvPr/>
        </p:nvSpPr>
        <p:spPr>
          <a:xfrm>
            <a:off x="6409944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409944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5" name="Shape 203"/>
          <p:cNvSpPr/>
          <p:nvPr/>
        </p:nvSpPr>
        <p:spPr>
          <a:xfrm>
            <a:off x="6976872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976872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7543800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7543800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8110728" y="3447288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8110728" y="344728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1" name="Shape 209"/>
          <p:cNvSpPr/>
          <p:nvPr/>
        </p:nvSpPr>
        <p:spPr>
          <a:xfrm>
            <a:off x="182880" y="3785616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28600" y="37856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1874520" y="378561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874520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5" name="Shape 213"/>
          <p:cNvSpPr/>
          <p:nvPr/>
        </p:nvSpPr>
        <p:spPr>
          <a:xfrm>
            <a:off x="2441448" y="378561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2441448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7" name="Shape 215"/>
          <p:cNvSpPr/>
          <p:nvPr/>
        </p:nvSpPr>
        <p:spPr>
          <a:xfrm>
            <a:off x="3008376" y="378561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008376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9" name="Shape 217"/>
          <p:cNvSpPr/>
          <p:nvPr/>
        </p:nvSpPr>
        <p:spPr>
          <a:xfrm>
            <a:off x="3575304" y="378561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3575304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1" name="Shape 219"/>
          <p:cNvSpPr/>
          <p:nvPr/>
        </p:nvSpPr>
        <p:spPr>
          <a:xfrm>
            <a:off x="4142232" y="378561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142232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3" name="Shape 221"/>
          <p:cNvSpPr/>
          <p:nvPr/>
        </p:nvSpPr>
        <p:spPr>
          <a:xfrm>
            <a:off x="4709160" y="378561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709160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5276088" y="378561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276088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7" name="Shape 225"/>
          <p:cNvSpPr/>
          <p:nvPr/>
        </p:nvSpPr>
        <p:spPr>
          <a:xfrm>
            <a:off x="5843016" y="378561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5843016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9" name="Shape 227"/>
          <p:cNvSpPr/>
          <p:nvPr/>
        </p:nvSpPr>
        <p:spPr>
          <a:xfrm>
            <a:off x="6409944" y="378561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409944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1" name="Shape 229"/>
          <p:cNvSpPr/>
          <p:nvPr/>
        </p:nvSpPr>
        <p:spPr>
          <a:xfrm>
            <a:off x="6976872" y="378561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6976872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3" name="Shape 231"/>
          <p:cNvSpPr/>
          <p:nvPr/>
        </p:nvSpPr>
        <p:spPr>
          <a:xfrm>
            <a:off x="7543800" y="3785616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7543800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5" name="Shape 233"/>
          <p:cNvSpPr/>
          <p:nvPr/>
        </p:nvSpPr>
        <p:spPr>
          <a:xfrm>
            <a:off x="8110728" y="3785616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8110728" y="378561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7" name="Shape 235"/>
          <p:cNvSpPr/>
          <p:nvPr/>
        </p:nvSpPr>
        <p:spPr>
          <a:xfrm>
            <a:off x="182880" y="4123944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228600" y="41239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spare_parts_mgr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1874520" y="4123944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1874520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1" name="Shape 239"/>
          <p:cNvSpPr/>
          <p:nvPr/>
        </p:nvSpPr>
        <p:spPr>
          <a:xfrm>
            <a:off x="2441448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2441448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3" name="Shape 241"/>
          <p:cNvSpPr/>
          <p:nvPr/>
        </p:nvSpPr>
        <p:spPr>
          <a:xfrm>
            <a:off x="3008376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3008376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5" name="Shape 243"/>
          <p:cNvSpPr/>
          <p:nvPr/>
        </p:nvSpPr>
        <p:spPr>
          <a:xfrm>
            <a:off x="3575304" y="4123944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3575304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7" name="Shape 245"/>
          <p:cNvSpPr/>
          <p:nvPr/>
        </p:nvSpPr>
        <p:spPr>
          <a:xfrm>
            <a:off x="4142232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4142232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4709160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4709160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1" name="Shape 249"/>
          <p:cNvSpPr/>
          <p:nvPr/>
        </p:nvSpPr>
        <p:spPr>
          <a:xfrm>
            <a:off x="5276088" y="4123944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5276088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3" name="Shape 251"/>
          <p:cNvSpPr/>
          <p:nvPr/>
        </p:nvSpPr>
        <p:spPr>
          <a:xfrm>
            <a:off x="5843016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843016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5" name="Shape 253"/>
          <p:cNvSpPr/>
          <p:nvPr/>
        </p:nvSpPr>
        <p:spPr>
          <a:xfrm>
            <a:off x="6409944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6409944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7" name="Shape 255"/>
          <p:cNvSpPr/>
          <p:nvPr/>
        </p:nvSpPr>
        <p:spPr>
          <a:xfrm>
            <a:off x="6976872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6976872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7543800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7543800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1" name="Shape 259"/>
          <p:cNvSpPr/>
          <p:nvPr/>
        </p:nvSpPr>
        <p:spPr>
          <a:xfrm>
            <a:off x="8110728" y="4123944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8110728" y="4123944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182880" y="4462272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228600" y="44622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telecaller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1874520" y="4462272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874520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7" name="Shape 265"/>
          <p:cNvSpPr/>
          <p:nvPr/>
        </p:nvSpPr>
        <p:spPr>
          <a:xfrm>
            <a:off x="2441448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2441448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3008376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3008376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1" name="Shape 269"/>
          <p:cNvSpPr/>
          <p:nvPr/>
        </p:nvSpPr>
        <p:spPr>
          <a:xfrm>
            <a:off x="3575304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3575304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3" name="Shape 271"/>
          <p:cNvSpPr/>
          <p:nvPr/>
        </p:nvSpPr>
        <p:spPr>
          <a:xfrm>
            <a:off x="4142232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4142232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5" name="Shape 273"/>
          <p:cNvSpPr/>
          <p:nvPr/>
        </p:nvSpPr>
        <p:spPr>
          <a:xfrm>
            <a:off x="4709160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4709160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7" name="Shape 275"/>
          <p:cNvSpPr/>
          <p:nvPr/>
        </p:nvSpPr>
        <p:spPr>
          <a:xfrm>
            <a:off x="5276088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5276088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5843016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5843016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1" name="Shape 279"/>
          <p:cNvSpPr/>
          <p:nvPr/>
        </p:nvSpPr>
        <p:spPr>
          <a:xfrm>
            <a:off x="6409944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6409944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3" name="Shape 281"/>
          <p:cNvSpPr/>
          <p:nvPr/>
        </p:nvSpPr>
        <p:spPr>
          <a:xfrm>
            <a:off x="6976872" y="4462272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6976872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5" name="Shape 283"/>
          <p:cNvSpPr/>
          <p:nvPr/>
        </p:nvSpPr>
        <p:spPr>
          <a:xfrm>
            <a:off x="7543800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7543800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8110728" y="4462272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8110728" y="4462272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9" name="Shape 287"/>
          <p:cNvSpPr/>
          <p:nvPr/>
        </p:nvSpPr>
        <p:spPr>
          <a:xfrm>
            <a:off x="182880" y="480060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228600" y="4800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crm_manager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1874520" y="480060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1874520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3" name="Shape 291"/>
          <p:cNvSpPr/>
          <p:nvPr/>
        </p:nvSpPr>
        <p:spPr>
          <a:xfrm>
            <a:off x="2441448" y="480060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2441448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5" name="Shape 293"/>
          <p:cNvSpPr/>
          <p:nvPr/>
        </p:nvSpPr>
        <p:spPr>
          <a:xfrm>
            <a:off x="3008376" y="480060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3008376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7" name="Shape 295"/>
          <p:cNvSpPr/>
          <p:nvPr/>
        </p:nvSpPr>
        <p:spPr>
          <a:xfrm>
            <a:off x="3575304" y="480060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3575304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9" name="Shape 297"/>
          <p:cNvSpPr/>
          <p:nvPr/>
        </p:nvSpPr>
        <p:spPr>
          <a:xfrm>
            <a:off x="4142232" y="480060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4142232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1" name="Shape 299"/>
          <p:cNvSpPr/>
          <p:nvPr/>
        </p:nvSpPr>
        <p:spPr>
          <a:xfrm>
            <a:off x="4709160" y="480060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4709160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3" name="Shape 301"/>
          <p:cNvSpPr/>
          <p:nvPr/>
        </p:nvSpPr>
        <p:spPr>
          <a:xfrm>
            <a:off x="5276088" y="480060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5276088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5" name="Shape 303"/>
          <p:cNvSpPr/>
          <p:nvPr/>
        </p:nvSpPr>
        <p:spPr>
          <a:xfrm>
            <a:off x="5843016" y="480060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843016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7" name="Shape 305"/>
          <p:cNvSpPr/>
          <p:nvPr/>
        </p:nvSpPr>
        <p:spPr>
          <a:xfrm>
            <a:off x="6409944" y="480060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6409944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9" name="Shape 307"/>
          <p:cNvSpPr/>
          <p:nvPr/>
        </p:nvSpPr>
        <p:spPr>
          <a:xfrm>
            <a:off x="6976872" y="480060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976872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1" name="Shape 309"/>
          <p:cNvSpPr/>
          <p:nvPr/>
        </p:nvSpPr>
        <p:spPr>
          <a:xfrm>
            <a:off x="7543800" y="4800600"/>
            <a:ext cx="539496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543800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3" name="Shape 311"/>
          <p:cNvSpPr/>
          <p:nvPr/>
        </p:nvSpPr>
        <p:spPr>
          <a:xfrm>
            <a:off x="8110728" y="4800600"/>
            <a:ext cx="5394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8110728" y="480060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15" name="Shape 3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JWT cookie-based auth  ·  CSRF tokens on all 26 mutation routes  ·  API Key for OxyQC M2M  ·  Rate limiting via SlowAPI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19–25: Rule-based → ML → LLM Copilot → Computer Vision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Roadmap — Sprints 19 to 25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intelligence from rule-based automation to computer vision diagnostics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84832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19–20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1490472"/>
            <a:ext cx="2084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90472"/>
            <a:ext cx="5486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90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20848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993392"/>
            <a:ext cx="54864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" y="21945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price suggestion by spec/grade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" y="28803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time SLA alerts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" y="35661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credit flag automation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13432" y="233172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41448" y="1051560"/>
            <a:ext cx="208483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105156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21–22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41448" y="12344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41448" y="1490472"/>
            <a:ext cx="2084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41448" y="149047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1490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41448" y="1993392"/>
            <a:ext cx="20848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41448" y="1993392"/>
            <a:ext cx="54864" cy="2468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9464" y="219456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by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9464" y="288036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2344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cost predictor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9464" y="356616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52344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price intelligence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26280" y="233172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4296" y="1051560"/>
            <a:ext cx="2084832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105156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54296" y="12344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Copilot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54296" y="1490472"/>
            <a:ext cx="2084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54296" y="1490472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1490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54296" y="1993392"/>
            <a:ext cx="20848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54296" y="1993392"/>
            <a:ext cx="54864" cy="2468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82312" y="219456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over stock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82312" y="288036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 WhatsApp messages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82312" y="356616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activity summariser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739128" y="233172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67144" y="1051560"/>
            <a:ext cx="208483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105156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24–25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67144" y="12344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67144" y="1490472"/>
            <a:ext cx="2084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67144" y="1490472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58584" y="1490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Diagnostics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867144" y="1993392"/>
            <a:ext cx="20848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867144" y="1993392"/>
            <a:ext cx="54864" cy="2468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95160" y="219456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040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grade from camera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995160" y="288036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040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defect detection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995160" y="356616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78040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OxyQC image-based fault id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28600" y="4617720"/>
            <a:ext cx="86868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(Sprint 18)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103120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 TERM (6 months)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29200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 (12–18 months) →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Results &amp; Quality Status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tests · 22 scenarios · 0 failures · 0.17s runtime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Results — April 27,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source-code analysis methodology · All tests passing · Gap analysis completed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51076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18872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31720" y="1751076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19202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18872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89120" y="1751076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097280"/>
            <a:ext cx="19202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18872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1751076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5212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68880"/>
            <a:ext cx="54864" cy="2423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603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— 8 Areas Needing Live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30815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with live PostgreSQL (current: mocked)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35387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QR session live flow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39959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OxyQC EXE M2M API Key end-to-end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" y="44531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under real browser print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80360" y="30815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 rotation under concurrent sessions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80360" y="35387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 rollback on real DB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80360" y="39959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rate-limit trigger under load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80360" y="445312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/ barcode scan in IQC module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0" y="2468880"/>
            <a:ext cx="3200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0" y="2468880"/>
            <a:ext cx="54864" cy="2423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2560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33872" y="3063240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971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via backup.sh (Task Scheduler/cron)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33872" y="3447288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3355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Offsite via rclone to network drive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33872" y="3831336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37398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Restore: stop app → restore → alembic upgrade head → restart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33872" y="4215384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9320" y="4123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 · ~150MB total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33872" y="4599432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89320" y="4507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verification cycle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303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19–20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pricing layer &amp; SLA alerts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2140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1214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with real PostgreSQL &amp; WhatsApp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79776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7797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Portal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2779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for dealer statement download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438144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34381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companion for field sales team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096512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096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 Target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4096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dealer network using CRM pipeline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914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OxyPC ERP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Summary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Tables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0" y="2212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0" y="2423160"/>
            <a:ext cx="219456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Routes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00800" y="2807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0" y="3017520"/>
            <a:ext cx="219456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Roles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00800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83680" y="3611880"/>
            <a:ext cx="219456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Tests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0" y="3995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Pass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0" y="4206240"/>
            <a:ext cx="219456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00800" y="4590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48006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OxyPC Technologies  ·  Confidential Internal Documentation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OxyPC ERP System — Complete Overview</dc:title>
  <dc:subject>PptxGenJS Presentation</dc:subject>
  <dc:creator>OxyPC Technologies</dc:creator>
  <cp:lastModifiedBy>OxyPC Technologies</cp:lastModifiedBy>
  <cp:revision>1</cp:revision>
  <dcterms:created xsi:type="dcterms:W3CDTF">2026-04-27T12:38:12Z</dcterms:created>
  <dcterms:modified xsi:type="dcterms:W3CDTF">2026-04-27T12:38:12Z</dcterms:modified>
</cp:coreProperties>
</file>
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94960" y="822960"/>
            <a:ext cx="1399032" cy="1399032"/>
          </a:xfrm>
          <a:prstGeom prst="ellipse">
            <a:avLst/>
          </a:prstGeom>
          <a:solidFill>
            <a:srgbClr val="FFFFFF">
              <a:alpha val="1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94960" y="822960"/>
            <a:ext cx="1399032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</a:rPr>
              <a:t>OxyPC Refurbishment ERP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Complete Application Process Flowcharts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10360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27 April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69848" y="50292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5029200"/>
            <a:ext cx="18288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Slide 2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Device Lifecycle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36392" y="50292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5029200"/>
            <a:ext cx="18288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Slide 3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Dealer &amp; Finance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02936" y="50292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02936" y="5029200"/>
            <a:ext cx="18288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Slide 4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CRM Pipelines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69480" y="50292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5029200"/>
            <a:ext cx="18288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Slide 5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System Architecture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36024" y="50292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36024" y="5029200"/>
            <a:ext cx="18288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Slide 6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RBAC Matrix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BA7D4"/>
                </a:solidFill>
              </a:rPr>
              <a:t>Confidential —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1188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Device Lifecycle — Main Flow  |  GRN → IQC → Repair → QC → Sale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" y="530352"/>
            <a:ext cx="1828800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" y="530352"/>
            <a:ext cx="18288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START: GRN / Material Received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24128" y="1033272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109728" y="1152144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" y="1152144"/>
            <a:ext cx="1828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Supplier Invoice &amp; Lot Registration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24128" y="1655064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109728" y="1773936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" y="1773936"/>
            <a:ext cx="1828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Device Barcoding &amp; Line Items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24128" y="2276856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09728" y="239572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" y="2395728"/>
            <a:ext cx="1828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Advance to IQC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24128" y="2898648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09728" y="3017520"/>
            <a:ext cx="1828800" cy="475488"/>
          </a:xfrm>
          <a:prstGeom prst="diamond">
            <a:avLst/>
          </a:prstGeom>
          <a:solidFill>
            <a:srgbClr val="E6510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" y="3017520"/>
            <a:ext cx="18288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IQC Inspection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(60+ checks)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024128" y="3611880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09728" y="373075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2E7D32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" y="3730752"/>
            <a:ext cx="1828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Move to Stock 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(Grade C0 Pass)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008" y="3566160"/>
            <a:ext cx="1920240" cy="2011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7D32"/>
                </a:solidFill>
              </a:rPr>
              <a:t>Grade C0 (Pass)→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024128" y="4114800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938528" y="2075688"/>
            <a:ext cx="1316736" cy="0"/>
          </a:xfrm>
          <a:prstGeom prst="line">
            <a:avLst/>
          </a:prstGeom>
          <a:noFill/>
          <a:ln w="15240">
            <a:solidFill>
              <a:srgbClr val="F57F17"/>
            </a:solidFill>
            <a:prstDash val="solid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1956816" y="3072384"/>
            <a:ext cx="73152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57F17"/>
                </a:solidFill>
              </a:rPr>
              <a:t>C3/C4→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109728" y="-347472"/>
            <a:ext cx="3145536" cy="0"/>
          </a:xfrm>
          <a:prstGeom prst="line">
            <a:avLst/>
          </a:prstGeom>
          <a:noFill/>
          <a:ln w="15240">
            <a:solidFill>
              <a:srgbClr val="C62828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-548640" y="3063240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C62828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-548640" y="3063240"/>
            <a:ext cx="658368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SCRAP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(C5)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-548640" y="2834640"/>
            <a:ext cx="658368" cy="2011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62828"/>
                </a:solidFill>
              </a:rPr>
              <a:t>C5 Scrap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109728" y="423367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2E7D32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9728" y="4233672"/>
            <a:ext cx="1828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QC Inspection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(Battery/Screen/Kbd/Body)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024128" y="4617720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109728" y="4736592"/>
            <a:ext cx="1828800" cy="475488"/>
          </a:xfrm>
          <a:prstGeom prst="diamond">
            <a:avLst/>
          </a:prstGeom>
          <a:solidFill>
            <a:srgbClr val="E6510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9728" y="4736592"/>
            <a:ext cx="18288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QC Result?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24128" y="5212080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109728" y="533095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0695C"/>
          </a:solidFill>
          <a:ln w="19050">
            <a:solidFill>
              <a:srgbClr val="0069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9728" y="5330952"/>
            <a:ext cx="1828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Ready to Sale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956816" y="4926787"/>
            <a:ext cx="82296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695C"/>
                </a:solidFill>
              </a:rPr>
              <a:t>Pass (A/B/C/D)↓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024128" y="5715000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109728" y="583387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0695C"/>
          </a:solidFill>
          <a:ln w="19050">
            <a:solidFill>
              <a:srgbClr val="0069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09728" y="5833872"/>
            <a:ext cx="1828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(Price / Customer / Payment)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024128" y="6217920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109728" y="6336792"/>
            <a:ext cx="1828800" cy="475488"/>
          </a:xfrm>
          <a:prstGeom prst="diamond">
            <a:avLst/>
          </a:prstGeom>
          <a:solidFill>
            <a:srgbClr val="E6510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09728" y="6336792"/>
            <a:ext cx="18288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Return?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024128" y="6812280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109728" y="6931152"/>
            <a:ext cx="1828800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09728" y="6931152"/>
            <a:ext cx="18288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SOLD ✓ — End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938528" y="6479438"/>
            <a:ext cx="45720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65C0"/>
                </a:solidFill>
              </a:rPr>
              <a:t>No↓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042416" y="6711696"/>
            <a:ext cx="-1591056" cy="0"/>
          </a:xfrm>
          <a:prstGeom prst="line">
            <a:avLst/>
          </a:prstGeom>
          <a:noFill/>
          <a:ln w="15240">
            <a:solidFill>
              <a:srgbClr val="C62828"/>
            </a:solidFill>
            <a:prstDash val="solid"/>
            <a:tailEnd type="arrow"/>
          </a:ln>
        </p:spPr>
      </p:sp>
      <p:sp>
        <p:nvSpPr>
          <p:cNvPr id="49" name="Text 47"/>
          <p:cNvSpPr/>
          <p:nvPr/>
        </p:nvSpPr>
        <p:spPr>
          <a:xfrm>
            <a:off x="-548640" y="6528816"/>
            <a:ext cx="658368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62828"/>
                </a:solidFill>
              </a:rPr>
              <a:t>Yes→Return→IQC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1938528" y="4224528"/>
            <a:ext cx="3035808" cy="0"/>
          </a:xfrm>
          <a:prstGeom prst="line">
            <a:avLst/>
          </a:prstGeom>
          <a:noFill/>
          <a:ln w="15240">
            <a:solidFill>
              <a:srgbClr val="6A1B9A"/>
            </a:solidFill>
            <a:prstDash val="solid"/>
            <a:tailEnd type="arrow"/>
          </a:ln>
        </p:spPr>
      </p:sp>
      <p:sp>
        <p:nvSpPr>
          <p:cNvPr id="51" name="Text 49"/>
          <p:cNvSpPr/>
          <p:nvPr/>
        </p:nvSpPr>
        <p:spPr>
          <a:xfrm>
            <a:off x="1975104" y="4572000"/>
            <a:ext cx="109728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A1B9A"/>
                </a:solidFill>
              </a:rPr>
              <a:t>Cosmetic Fail→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1024128" y="5212080"/>
            <a:ext cx="0" cy="0"/>
          </a:xfrm>
          <a:prstGeom prst="line">
            <a:avLst/>
          </a:prstGeom>
          <a:noFill/>
          <a:ln w="15240">
            <a:solidFill>
              <a:srgbClr val="F57F17"/>
            </a:solidFill>
            <a:prstDash val="solid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2148840" y="301752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F57F17"/>
          </a:solidFill>
          <a:ln w="19050">
            <a:solidFill>
              <a:srgbClr val="F57F1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148840" y="3017520"/>
            <a:ext cx="187452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L1 Repair (Basic)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086100" y="3401568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56" name="Shape 54"/>
          <p:cNvSpPr/>
          <p:nvPr/>
        </p:nvSpPr>
        <p:spPr>
          <a:xfrm>
            <a:off x="2148840" y="3520440"/>
            <a:ext cx="1874520" cy="457200"/>
          </a:xfrm>
          <a:prstGeom prst="diamond">
            <a:avLst/>
          </a:prstGeom>
          <a:solidFill>
            <a:srgbClr val="E6510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148840" y="3520440"/>
            <a:ext cx="1874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L1 Outcome?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148840" y="4425696"/>
            <a:ext cx="-210312" cy="0"/>
          </a:xfrm>
          <a:prstGeom prst="line">
            <a:avLst/>
          </a:prstGeom>
          <a:noFill/>
          <a:ln w="15240">
            <a:solidFill>
              <a:srgbClr val="2E7D32"/>
            </a:solidFill>
            <a:prstDash val="solid"/>
            <a:tailEnd type="arrow"/>
          </a:ln>
        </p:spPr>
      </p:sp>
      <p:sp>
        <p:nvSpPr>
          <p:cNvPr id="59" name="Text 57"/>
          <p:cNvSpPr/>
          <p:nvPr/>
        </p:nvSpPr>
        <p:spPr>
          <a:xfrm>
            <a:off x="2167128" y="3337560"/>
            <a:ext cx="1837944" cy="2011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7D32"/>
                </a:solidFill>
              </a:rPr>
              <a:t>Pass→QC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4096512" y="352044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C62828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096512" y="3520440"/>
            <a:ext cx="6400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SCRAP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023360" y="3712464"/>
            <a:ext cx="73152" cy="0"/>
          </a:xfrm>
          <a:prstGeom prst="line">
            <a:avLst/>
          </a:prstGeom>
          <a:noFill/>
          <a:ln w="15240">
            <a:solidFill>
              <a:srgbClr val="C62828"/>
            </a:solidFill>
            <a:prstDash val="solid"/>
            <a:tailEnd type="arrow"/>
          </a:ln>
        </p:spPr>
      </p:sp>
      <p:sp>
        <p:nvSpPr>
          <p:cNvPr id="63" name="Text 61"/>
          <p:cNvSpPr/>
          <p:nvPr/>
        </p:nvSpPr>
        <p:spPr>
          <a:xfrm>
            <a:off x="4032504" y="3355848"/>
            <a:ext cx="73152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62828"/>
                </a:solidFill>
              </a:rPr>
              <a:t>Scrap→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3086100" y="3977640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5" name="Shape 63"/>
          <p:cNvSpPr/>
          <p:nvPr/>
        </p:nvSpPr>
        <p:spPr>
          <a:xfrm>
            <a:off x="2148840" y="4096512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F57F17"/>
          </a:solidFill>
          <a:ln w="19050">
            <a:solidFill>
              <a:srgbClr val="F57F1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2148840" y="4096512"/>
            <a:ext cx="187452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L2 Repair (Intermediate)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2103120" y="3749040"/>
            <a:ext cx="45720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57F17"/>
                </a:solidFill>
              </a:rPr>
              <a:t>Escalate↓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3086100" y="4480560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9" name="Shape 67"/>
          <p:cNvSpPr/>
          <p:nvPr/>
        </p:nvSpPr>
        <p:spPr>
          <a:xfrm>
            <a:off x="2148840" y="4599432"/>
            <a:ext cx="1874520" cy="457200"/>
          </a:xfrm>
          <a:prstGeom prst="diamond">
            <a:avLst/>
          </a:prstGeom>
          <a:solidFill>
            <a:srgbClr val="E6510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2148840" y="4599432"/>
            <a:ext cx="1874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L2 Outcome?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148840" y="4462272"/>
            <a:ext cx="-210312" cy="0"/>
          </a:xfrm>
          <a:prstGeom prst="line">
            <a:avLst/>
          </a:prstGeom>
          <a:noFill/>
          <a:ln w="15240">
            <a:solidFill>
              <a:srgbClr val="2E7D32"/>
            </a:solidFill>
            <a:prstDash val="solid"/>
            <a:tailEnd type="arrow"/>
          </a:ln>
        </p:spPr>
      </p:sp>
      <p:sp>
        <p:nvSpPr>
          <p:cNvPr id="72" name="Text 70"/>
          <p:cNvSpPr/>
          <p:nvPr/>
        </p:nvSpPr>
        <p:spPr>
          <a:xfrm>
            <a:off x="2167128" y="4416552"/>
            <a:ext cx="1837944" cy="2011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7D32"/>
                </a:solidFill>
              </a:rPr>
              <a:t>Pass→QC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4096512" y="4599432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C62828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4096512" y="4599432"/>
            <a:ext cx="6400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SCRAP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023360" y="4791456"/>
            <a:ext cx="73152" cy="0"/>
          </a:xfrm>
          <a:prstGeom prst="line">
            <a:avLst/>
          </a:prstGeom>
          <a:noFill/>
          <a:ln w="15240">
            <a:solidFill>
              <a:srgbClr val="C62828"/>
            </a:solidFill>
            <a:prstDash val="solid"/>
            <a:tailEnd type="arrow"/>
          </a:ln>
        </p:spPr>
      </p:sp>
      <p:sp>
        <p:nvSpPr>
          <p:cNvPr id="76" name="Shape 74"/>
          <p:cNvSpPr/>
          <p:nvPr/>
        </p:nvSpPr>
        <p:spPr>
          <a:xfrm>
            <a:off x="3086100" y="5056632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77" name="Shape 75"/>
          <p:cNvSpPr/>
          <p:nvPr/>
        </p:nvSpPr>
        <p:spPr>
          <a:xfrm>
            <a:off x="2148840" y="5175504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F57F17"/>
          </a:solidFill>
          <a:ln w="19050">
            <a:solidFill>
              <a:srgbClr val="F57F1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2148840" y="5175504"/>
            <a:ext cx="187452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L3 Repair (Advanced)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086100" y="5559552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80" name="Shape 78"/>
          <p:cNvSpPr/>
          <p:nvPr/>
        </p:nvSpPr>
        <p:spPr>
          <a:xfrm>
            <a:off x="2148840" y="5678424"/>
            <a:ext cx="1874520" cy="457200"/>
          </a:xfrm>
          <a:prstGeom prst="diamond">
            <a:avLst/>
          </a:prstGeom>
          <a:solidFill>
            <a:srgbClr val="E6510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2148840" y="5678424"/>
            <a:ext cx="1874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L3 Outcome?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2148840" y="4498848"/>
            <a:ext cx="-210312" cy="0"/>
          </a:xfrm>
          <a:prstGeom prst="line">
            <a:avLst/>
          </a:prstGeom>
          <a:noFill/>
          <a:ln w="15240">
            <a:solidFill>
              <a:srgbClr val="2E7D32"/>
            </a:solidFill>
            <a:prstDash val="solid"/>
            <a:tailEnd type="arrow"/>
          </a:ln>
        </p:spPr>
      </p:sp>
      <p:sp>
        <p:nvSpPr>
          <p:cNvPr id="83" name="Text 81"/>
          <p:cNvSpPr/>
          <p:nvPr/>
        </p:nvSpPr>
        <p:spPr>
          <a:xfrm>
            <a:off x="2167128" y="5495544"/>
            <a:ext cx="1837944" cy="2011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7D32"/>
                </a:solidFill>
              </a:rPr>
              <a:t>Pass→QC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4096512" y="5678424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C62828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4096512" y="5678424"/>
            <a:ext cx="6400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SCRAP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4023360" y="5870448"/>
            <a:ext cx="73152" cy="0"/>
          </a:xfrm>
          <a:prstGeom prst="line">
            <a:avLst/>
          </a:prstGeom>
          <a:noFill/>
          <a:ln w="15240">
            <a:solidFill>
              <a:srgbClr val="C62828"/>
            </a:solidFill>
            <a:prstDash val="solid"/>
            <a:tailEnd type="arrow"/>
          </a:ln>
        </p:spPr>
      </p:sp>
      <p:sp>
        <p:nvSpPr>
          <p:cNvPr id="87" name="Text 85"/>
          <p:cNvSpPr/>
          <p:nvPr/>
        </p:nvSpPr>
        <p:spPr>
          <a:xfrm>
            <a:off x="4572000" y="444398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A1B9A"/>
                </a:solidFill>
              </a:rPr>
              <a:t>Cosmetic Pipeline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572000" y="464515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6A1B9A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4572000" y="4645152"/>
            <a:ext cx="16002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Cleaning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5372100" y="5029200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91" name="Shape 89"/>
          <p:cNvSpPr/>
          <p:nvPr/>
        </p:nvSpPr>
        <p:spPr>
          <a:xfrm>
            <a:off x="4572000" y="514807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6A1B9A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4572000" y="5148072"/>
            <a:ext cx="16002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Dry Sanding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5372100" y="5532120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94" name="Shape 92"/>
          <p:cNvSpPr/>
          <p:nvPr/>
        </p:nvSpPr>
        <p:spPr>
          <a:xfrm>
            <a:off x="4572000" y="565099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6A1B9A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4572000" y="5650992"/>
            <a:ext cx="16002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Masking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5372100" y="6035040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97" name="Shape 95"/>
          <p:cNvSpPr/>
          <p:nvPr/>
        </p:nvSpPr>
        <p:spPr>
          <a:xfrm>
            <a:off x="4572000" y="615391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6A1B9A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4572000" y="6153912"/>
            <a:ext cx="16002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Painting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5372100" y="6537960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00" name="Shape 98"/>
          <p:cNvSpPr/>
          <p:nvPr/>
        </p:nvSpPr>
        <p:spPr>
          <a:xfrm>
            <a:off x="4572000" y="665683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6A1B9A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01" name="Text 99"/>
          <p:cNvSpPr/>
          <p:nvPr/>
        </p:nvSpPr>
        <p:spPr>
          <a:xfrm>
            <a:off x="4572000" y="6656832"/>
            <a:ext cx="16002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Water Sanding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5372100" y="7040880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03" name="Shape 101"/>
          <p:cNvSpPr/>
          <p:nvPr/>
        </p:nvSpPr>
        <p:spPr>
          <a:xfrm>
            <a:off x="4572000" y="715975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2E7D32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4572000" y="7159752"/>
            <a:ext cx="16002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Final QC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4572000" y="7662672"/>
            <a:ext cx="1600200" cy="457200"/>
          </a:xfrm>
          <a:prstGeom prst="diamond">
            <a:avLst/>
          </a:prstGeom>
          <a:solidFill>
            <a:srgbClr val="E6510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4572000" y="7662672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Final QC?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4572000" y="5522976"/>
            <a:ext cx="-2633472" cy="0"/>
          </a:xfrm>
          <a:prstGeom prst="line">
            <a:avLst/>
          </a:prstGeom>
          <a:noFill/>
          <a:ln w="15240">
            <a:solidFill>
              <a:srgbClr val="00695C"/>
            </a:solidFill>
            <a:prstDash val="solid"/>
            <a:tailEnd type="arrow"/>
          </a:ln>
        </p:spPr>
      </p:sp>
      <p:sp>
        <p:nvSpPr>
          <p:cNvPr id="108" name="Text 106"/>
          <p:cNvSpPr/>
          <p:nvPr/>
        </p:nvSpPr>
        <p:spPr>
          <a:xfrm>
            <a:off x="4590288" y="7479792"/>
            <a:ext cx="1563624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695C"/>
                </a:solidFill>
              </a:rPr>
              <a:t>Pass→Ready to Sale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5372100" y="7891272"/>
            <a:ext cx="909828" cy="0"/>
          </a:xfrm>
          <a:prstGeom prst="line">
            <a:avLst/>
          </a:prstGeom>
          <a:noFill/>
          <a:ln w="15240">
            <a:solidFill>
              <a:srgbClr val="C62828"/>
            </a:solidFill>
            <a:prstDash val="solid"/>
            <a:tailEnd type="arrow"/>
          </a:ln>
        </p:spPr>
      </p:sp>
      <p:sp>
        <p:nvSpPr>
          <p:cNvPr id="110" name="Shape 108"/>
          <p:cNvSpPr/>
          <p:nvPr/>
        </p:nvSpPr>
        <p:spPr>
          <a:xfrm>
            <a:off x="6281928" y="4837176"/>
            <a:ext cx="0" cy="3054096"/>
          </a:xfrm>
          <a:prstGeom prst="line">
            <a:avLst/>
          </a:prstGeom>
          <a:noFill/>
          <a:ln w="15240">
            <a:solidFill>
              <a:srgbClr val="C62828"/>
            </a:solidFill>
            <a:prstDash val="solid"/>
            <a:headEnd type="none"/>
            <a:tailEnd type="none"/>
          </a:ln>
        </p:spPr>
      </p:sp>
      <p:sp>
        <p:nvSpPr>
          <p:cNvPr id="111" name="Shape 109"/>
          <p:cNvSpPr/>
          <p:nvPr/>
        </p:nvSpPr>
        <p:spPr>
          <a:xfrm>
            <a:off x="6281928" y="4837176"/>
            <a:ext cx="-873252" cy="0"/>
          </a:xfrm>
          <a:prstGeom prst="line">
            <a:avLst/>
          </a:prstGeom>
          <a:noFill/>
          <a:ln w="15240">
            <a:solidFill>
              <a:srgbClr val="C62828"/>
            </a:solidFill>
            <a:prstDash val="solid"/>
            <a:tailEnd type="arrow"/>
          </a:ln>
        </p:spPr>
      </p:sp>
      <p:sp>
        <p:nvSpPr>
          <p:cNvPr id="112" name="Text 110"/>
          <p:cNvSpPr/>
          <p:nvPr/>
        </p:nvSpPr>
        <p:spPr>
          <a:xfrm>
            <a:off x="6208776" y="7479792"/>
            <a:ext cx="45720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62828"/>
                </a:solidFill>
              </a:rPr>
              <a:t>Fail→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6492240" y="5212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546E7A"/>
                </a:solidFill>
              </a:rPr>
              <a:t>SPARE PARTS BRANCH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6492240" y="731520"/>
            <a:ext cx="1828800" cy="475488"/>
          </a:xfrm>
          <a:prstGeom prst="diamond">
            <a:avLst/>
          </a:prstGeom>
          <a:solidFill>
            <a:srgbClr val="E6510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5" name="Text 113"/>
          <p:cNvSpPr/>
          <p:nvPr/>
        </p:nvSpPr>
        <p:spPr>
          <a:xfrm>
            <a:off x="6492240" y="731520"/>
            <a:ext cx="18288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Parts Not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Available (PNA)?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6492240" y="132588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546E7A"/>
          </a:solidFill>
          <a:ln w="19050">
            <a:solidFill>
              <a:srgbClr val="546E7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7" name="Text 115"/>
          <p:cNvSpPr/>
          <p:nvPr/>
        </p:nvSpPr>
        <p:spPr>
          <a:xfrm>
            <a:off x="6492240" y="1325880"/>
            <a:ext cx="1828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Spare Parts Planning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7406640" y="1709928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19" name="Shape 117"/>
          <p:cNvSpPr/>
          <p:nvPr/>
        </p:nvSpPr>
        <p:spPr>
          <a:xfrm>
            <a:off x="6492240" y="18288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546E7A"/>
          </a:solidFill>
          <a:ln w="19050">
            <a:solidFill>
              <a:srgbClr val="546E7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0" name="Text 118"/>
          <p:cNvSpPr/>
          <p:nvPr/>
        </p:nvSpPr>
        <p:spPr>
          <a:xfrm>
            <a:off x="6492240" y="1828800"/>
            <a:ext cx="1828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Check Inventory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7406640" y="2212848"/>
            <a:ext cx="0" cy="1005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22" name="Shape 120"/>
          <p:cNvSpPr/>
          <p:nvPr/>
        </p:nvSpPr>
        <p:spPr>
          <a:xfrm>
            <a:off x="6492240" y="2331720"/>
            <a:ext cx="1828800" cy="475488"/>
          </a:xfrm>
          <a:prstGeom prst="diamond">
            <a:avLst/>
          </a:prstGeom>
          <a:solidFill>
            <a:srgbClr val="E6510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3" name="Text 121"/>
          <p:cNvSpPr/>
          <p:nvPr/>
        </p:nvSpPr>
        <p:spPr>
          <a:xfrm>
            <a:off x="649224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Part Available?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6492240" y="292608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2E7D32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5" name="Text 123"/>
          <p:cNvSpPr/>
          <p:nvPr/>
        </p:nvSpPr>
        <p:spPr>
          <a:xfrm>
            <a:off x="649224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Assign Part to Engineer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7406640" y="2807208"/>
            <a:ext cx="0" cy="118872"/>
          </a:xfrm>
          <a:prstGeom prst="line">
            <a:avLst/>
          </a:prstGeom>
          <a:noFill/>
          <a:ln w="15240">
            <a:solidFill>
              <a:srgbClr val="2E7D32"/>
            </a:solidFill>
            <a:prstDash val="solid"/>
            <a:tailEnd type="arrow"/>
          </a:ln>
        </p:spPr>
      </p:sp>
      <p:sp>
        <p:nvSpPr>
          <p:cNvPr id="127" name="Text 125"/>
          <p:cNvSpPr/>
          <p:nvPr/>
        </p:nvSpPr>
        <p:spPr>
          <a:xfrm>
            <a:off x="8339328" y="2468880"/>
            <a:ext cx="36576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7D32"/>
                </a:solidFill>
              </a:rPr>
              <a:t>Yes↓</a:t>
            </a:r>
            <a:endParaRPr lang="en-US" sz="650" dirty="0"/>
          </a:p>
        </p:txBody>
      </p:sp>
      <p:sp>
        <p:nvSpPr>
          <p:cNvPr id="128" name="Shape 126"/>
          <p:cNvSpPr/>
          <p:nvPr/>
        </p:nvSpPr>
        <p:spPr>
          <a:xfrm>
            <a:off x="8321040" y="2569464"/>
            <a:ext cx="91440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29" name="Text 127"/>
          <p:cNvSpPr/>
          <p:nvPr/>
        </p:nvSpPr>
        <p:spPr>
          <a:xfrm>
            <a:off x="8339328" y="2148840"/>
            <a:ext cx="45720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565C0"/>
                </a:solidFill>
              </a:rPr>
              <a:t>No→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8412480" y="2331720"/>
            <a:ext cx="1783080" cy="886968"/>
          </a:xfrm>
          <a:prstGeom prst="roundRect">
            <a:avLst>
              <a:gd name="adj" fmla="val 8247"/>
            </a:avLst>
          </a:prstGeom>
          <a:solidFill>
            <a:srgbClr val="1565C0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31" name="Text 129"/>
          <p:cNvSpPr/>
          <p:nvPr/>
        </p:nvSpPr>
        <p:spPr>
          <a:xfrm>
            <a:off x="8412480" y="2331720"/>
            <a:ext cx="1783080" cy="8869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Create PO →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GRN →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Update Inventory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9304020" y="3118104"/>
            <a:ext cx="-1897380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33" name="Text 131"/>
          <p:cNvSpPr/>
          <p:nvPr/>
        </p:nvSpPr>
        <p:spPr>
          <a:xfrm>
            <a:off x="8503920" y="51023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121"/>
                </a:solidFill>
              </a:rPr>
              <a:t>Legend: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8503920" y="5303520"/>
            <a:ext cx="201168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759952" y="5303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12121"/>
                </a:solidFill>
              </a:rPr>
              <a:t>Start/End / Stock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10222992" y="5303520"/>
            <a:ext cx="201168" cy="20116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479024" y="5303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12121"/>
                </a:solidFill>
              </a:rPr>
              <a:t>Repair Steps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8503920" y="5559552"/>
            <a:ext cx="201168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759952" y="55595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12121"/>
                </a:solidFill>
              </a:rPr>
              <a:t>QC / Pass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10222992" y="5559552"/>
            <a:ext cx="201168" cy="2011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479024" y="55595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12121"/>
                </a:solidFill>
              </a:rPr>
              <a:t>Cosmetic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8503920" y="5815584"/>
            <a:ext cx="201168" cy="2011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759952" y="581558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12121"/>
                </a:solidFill>
              </a:rPr>
              <a:t>Sales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10222992" y="5815584"/>
            <a:ext cx="201168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0479024" y="581558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12121"/>
                </a:solidFill>
              </a:rPr>
              <a:t>Decision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8503920" y="6071616"/>
            <a:ext cx="201168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8759952" y="607161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12121"/>
                </a:solidFill>
              </a:rPr>
              <a:t>Scrap / Return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1188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Dealer &amp; Finance Flow  |  Order → Invoice → Payment → Reconciliation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210312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594360"/>
            <a:ext cx="2103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START: Register Dealer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80160" y="1069848"/>
            <a:ext cx="0" cy="9144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228600" y="1179576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179576"/>
            <a:ext cx="21031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Set Credit Limit &amp; GSTIN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80160" y="1655064"/>
            <a:ext cx="0" cy="9144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228600" y="1764792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" y="1764792"/>
            <a:ext cx="21031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Create Dealer Order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280160" y="2240280"/>
            <a:ext cx="0" cy="9144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228600" y="2350008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600" y="2350008"/>
            <a:ext cx="21031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Add Line Items (Devices/Parts)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280160" y="2825496"/>
            <a:ext cx="0" cy="9144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228600" y="2935224"/>
            <a:ext cx="2103120" cy="457200"/>
          </a:xfrm>
          <a:prstGeom prst="diamond">
            <a:avLst/>
          </a:prstGeom>
          <a:solidFill>
            <a:srgbClr val="E6510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" y="2935224"/>
            <a:ext cx="2103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Order Confirmed?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31720" y="3163824"/>
            <a:ext cx="109728" cy="0"/>
          </a:xfrm>
          <a:prstGeom prst="line">
            <a:avLst/>
          </a:prstGeom>
          <a:noFill/>
          <a:ln w="15240">
            <a:solidFill>
              <a:srgbClr val="C62828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2441448" y="2935224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41448" y="2935224"/>
            <a:ext cx="10972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Edit / Cancel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368296" y="2752344"/>
            <a:ext cx="54864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62828"/>
                </a:solidFill>
              </a:rPr>
              <a:t>No→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92024" y="3374136"/>
            <a:ext cx="217627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7D32"/>
                </a:solidFill>
              </a:rPr>
              <a:t>Yes↓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1280160" y="3392424"/>
            <a:ext cx="0" cy="9144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228600" y="3502152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8600" y="3502152"/>
            <a:ext cx="21031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Mark Delivered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280160" y="3977640"/>
            <a:ext cx="0" cy="9144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228600" y="4087368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28600" y="4087368"/>
            <a:ext cx="21031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Generate Invoice (GST auto-calc)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280160" y="4562856"/>
            <a:ext cx="0" cy="9144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228600" y="4672584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28600" y="4672584"/>
            <a:ext cx="21031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Send Payment Reminder (WhatsApp)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280160" y="5148072"/>
            <a:ext cx="0" cy="9144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228600" y="525780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28600" y="5257800"/>
            <a:ext cx="21031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Customer Receipt Entry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280160" y="5733288"/>
            <a:ext cx="0" cy="9144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228600" y="5843016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28600" y="5843016"/>
            <a:ext cx="21031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Link Receipt → Dealer Order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280160" y="6318504"/>
            <a:ext cx="0" cy="9144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228600" y="6428232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28600" y="6428232"/>
            <a:ext cx="21031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Auto-decrement Due Amount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280160" y="6903720"/>
            <a:ext cx="0" cy="9144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228600" y="7013448"/>
            <a:ext cx="2103120" cy="457200"/>
          </a:xfrm>
          <a:prstGeom prst="diamond">
            <a:avLst/>
          </a:prstGeom>
          <a:solidFill>
            <a:srgbClr val="E6510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28600" y="7013448"/>
            <a:ext cx="2103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Due Amount = 0?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331720" y="7242048"/>
            <a:ext cx="109728" cy="0"/>
          </a:xfrm>
          <a:prstGeom prst="line">
            <a:avLst/>
          </a:prstGeom>
          <a:noFill/>
          <a:ln w="15240">
            <a:solidFill>
              <a:srgbClr val="C62828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2441448" y="701344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441448" y="7013448"/>
            <a:ext cx="137160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Ageing Report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— Follow Up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368296" y="6830568"/>
            <a:ext cx="54864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62828"/>
                </a:solidFill>
              </a:rPr>
              <a:t>No→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1280160" y="7470648"/>
            <a:ext cx="0" cy="9144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49" name="Text 47"/>
          <p:cNvSpPr/>
          <p:nvPr/>
        </p:nvSpPr>
        <p:spPr>
          <a:xfrm>
            <a:off x="192024" y="7452360"/>
            <a:ext cx="217627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7D32"/>
                </a:solidFill>
              </a:rPr>
              <a:t>Yes↓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228600" y="7580376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28600" y="7580376"/>
            <a:ext cx="21031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Order Status = PAID ✓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280160" y="8055864"/>
            <a:ext cx="0" cy="9144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228600" y="8165592"/>
            <a:ext cx="2103120" cy="457200"/>
          </a:xfrm>
          <a:prstGeom prst="diamond">
            <a:avLst/>
          </a:prstGeom>
          <a:solidFill>
            <a:srgbClr val="E6510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28600" y="8165592"/>
            <a:ext cx="2103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Credit Note Exists?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331720" y="8394192"/>
            <a:ext cx="109728" cy="0"/>
          </a:xfrm>
          <a:prstGeom prst="line">
            <a:avLst/>
          </a:prstGeom>
          <a:noFill/>
          <a:ln w="15240">
            <a:solidFill>
              <a:srgbClr val="00695C"/>
            </a:solidFill>
            <a:prstDash val="solid"/>
            <a:tailEnd type="arrow"/>
          </a:ln>
        </p:spPr>
      </p:sp>
      <p:sp>
        <p:nvSpPr>
          <p:cNvPr id="56" name="Shape 54"/>
          <p:cNvSpPr/>
          <p:nvPr/>
        </p:nvSpPr>
        <p:spPr>
          <a:xfrm>
            <a:off x="2441448" y="8165592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00695C"/>
          </a:solidFill>
          <a:ln w="19050">
            <a:solidFill>
              <a:srgbClr val="0069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441448" y="8165592"/>
            <a:ext cx="137160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Apply Credit Note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→ Reduce Due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368296" y="7982712"/>
            <a:ext cx="45720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695C"/>
                </a:solidFill>
              </a:rPr>
              <a:t>Yes→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1280160" y="8622792"/>
            <a:ext cx="0" cy="9144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0" name="Text 58"/>
          <p:cNvSpPr/>
          <p:nvPr/>
        </p:nvSpPr>
        <p:spPr>
          <a:xfrm>
            <a:off x="192024" y="8604504"/>
            <a:ext cx="217627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565C0"/>
                </a:solidFill>
              </a:rPr>
              <a:t>No↓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228600" y="8732520"/>
            <a:ext cx="210312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228600" y="8732520"/>
            <a:ext cx="2103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END — Order Closed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840480" y="59436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Receivables Ageing Buckets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41832"/>
          <a:ext cx="8138160" cy="18288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18872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Bucket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Current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(0-30d)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31-60d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7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61-90d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91-120d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120+d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(Bad Debt)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0E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</a:rPr>
                        <a:t>Example 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</a:rPr>
                        <a:t>₹2,50,000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</a:rPr>
                        <a:t>₹80,000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</a:rPr>
                        <a:t>₹40,000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</a:rPr>
                        <a:t>₹15,000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</a:rPr>
                        <a:t>₹5,000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</a:rPr>
                        <a:t>Example 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</a:rPr>
                        <a:t>₹1,20,000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</a:rPr>
                        <a:t>₹30,000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</a:rPr>
                        <a:t>₹10,000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</a:rPr>
                        <a:t>₹0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</a:rPr>
                        <a:t>₹0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</a:rPr>
                        <a:t>Example C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</a:rPr>
                        <a:t>₹3,00,000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</a:rPr>
                        <a:t>₹1,50,000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</a:rPr>
                        <a:t>₹60,000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</a:rPr>
                        <a:t>₹25,000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</a:rPr>
                        <a:t>₹12,000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</a:rPr>
                        <a:t>TOTAL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</a:rPr>
                        <a:t>₹6,70,000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</a:rPr>
                        <a:t>₹2,60,000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</a:rPr>
                        <a:t>₹1,10,000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</a:rPr>
                        <a:t>₹40,000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</a:rPr>
                        <a:t>₹17,000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65" name="Text 62"/>
          <p:cNvSpPr/>
          <p:nvPr/>
        </p:nvSpPr>
        <p:spPr>
          <a:xfrm>
            <a:off x="3840480" y="292608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46E7A"/>
                </a:solidFill>
              </a:rPr>
              <a:t>Overdue follow-ups triggered automatically via WhatsApp at 31d, 61d, 91d milestones. Accounts &gt;120d flagged as Bad Debt for write-off review.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3840480" y="33375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7" name="Text 64"/>
          <p:cNvSpPr/>
          <p:nvPr/>
        </p:nvSpPr>
        <p:spPr>
          <a:xfrm>
            <a:off x="3840480" y="333756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28d</a:t>
            </a:r>
            <a:endParaRPr lang="en-US" sz="2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Avg Collection Days</a:t>
            </a:r>
            <a:endParaRPr lang="en-US" sz="2200" dirty="0"/>
          </a:p>
        </p:txBody>
      </p:sp>
      <p:sp>
        <p:nvSpPr>
          <p:cNvPr id="68" name="Shape 65"/>
          <p:cNvSpPr/>
          <p:nvPr/>
        </p:nvSpPr>
        <p:spPr>
          <a:xfrm>
            <a:off x="5888736" y="33375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9" name="Text 66"/>
          <p:cNvSpPr/>
          <p:nvPr/>
        </p:nvSpPr>
        <p:spPr>
          <a:xfrm>
            <a:off x="5888736" y="333756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₹1.5L</a:t>
            </a:r>
            <a:endParaRPr lang="en-US" sz="2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Outstanding &gt;60d</a:t>
            </a:r>
            <a:endParaRPr lang="en-US" sz="2200" dirty="0"/>
          </a:p>
        </p:txBody>
      </p:sp>
      <p:sp>
        <p:nvSpPr>
          <p:cNvPr id="70" name="Shape 67"/>
          <p:cNvSpPr/>
          <p:nvPr/>
        </p:nvSpPr>
        <p:spPr>
          <a:xfrm>
            <a:off x="7936992" y="33375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71" name="Text 68"/>
          <p:cNvSpPr/>
          <p:nvPr/>
        </p:nvSpPr>
        <p:spPr>
          <a:xfrm>
            <a:off x="7936992" y="333756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0.6%</a:t>
            </a:r>
            <a:endParaRPr lang="en-US" sz="2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Bad Debt Ratio</a:t>
            </a:r>
            <a:endParaRPr lang="en-US" sz="2200" dirty="0"/>
          </a:p>
        </p:txBody>
      </p:sp>
      <p:sp>
        <p:nvSpPr>
          <p:cNvPr id="72" name="Shape 69"/>
          <p:cNvSpPr/>
          <p:nvPr/>
        </p:nvSpPr>
        <p:spPr>
          <a:xfrm>
            <a:off x="9985248" y="33375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73" name="Text 70"/>
          <p:cNvSpPr/>
          <p:nvPr/>
        </p:nvSpPr>
        <p:spPr>
          <a:xfrm>
            <a:off x="9985248" y="333756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47</a:t>
            </a:r>
            <a:endParaRPr lang="en-US" sz="2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Active Dealers</a:t>
            </a:r>
            <a:endParaRPr lang="en-US" sz="2200" dirty="0"/>
          </a:p>
        </p:txBody>
      </p:sp>
      <p:sp>
        <p:nvSpPr>
          <p:cNvPr id="74" name="Shape 71"/>
          <p:cNvSpPr/>
          <p:nvPr/>
        </p:nvSpPr>
        <p:spPr>
          <a:xfrm>
            <a:off x="3840480" y="4343400"/>
            <a:ext cx="8138160" cy="685800"/>
          </a:xfrm>
          <a:prstGeom prst="roundRect">
            <a:avLst>
              <a:gd name="adj" fmla="val 10667"/>
            </a:avLst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3931920" y="434340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7F17"/>
                </a:solidFill>
              </a:rPr>
              <a:t>GST Compliance Notes: </a:t>
            </a:r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• Invoice auto-calculates IGST/CGST/SGST based on buyer state vs seller state  • GSTIN validated at dealer registration  • HSN codes linked to product master  • Monthly GSTR-1 export supported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1188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CRM Flow — Sourcing &amp; Sales Pipelines  |  Dual pipeline with activity tracking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" y="493776"/>
            <a:ext cx="2706624" cy="6172200"/>
          </a:xfrm>
          <a:prstGeom prst="rect">
            <a:avLst/>
          </a:prstGeom>
          <a:solidFill>
            <a:srgbClr val="E8F4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4592" y="5120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SOURCING PIPELINE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66928"/>
            <a:ext cx="2560320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" y="566928"/>
            <a:ext cx="25603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New Supplier Contact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444752" y="1005840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64592" y="109728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Sourcing Deal Created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44752" y="1536192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64592" y="1627632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546E7A"/>
          </a:solidFill>
          <a:ln w="19050">
            <a:solidFill>
              <a:srgbClr val="546E7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4592" y="1627632"/>
            <a:ext cx="25603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LEAD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444752" y="1975104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64592" y="2066544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1565C0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4592" y="2066544"/>
            <a:ext cx="25603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CONTACTED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444752" y="2414016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64592" y="2505456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00695C"/>
          </a:solidFill>
          <a:ln w="19050">
            <a:solidFill>
              <a:srgbClr val="0069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4592" y="2505456"/>
            <a:ext cx="25603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INSPECTION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444752" y="2852928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64592" y="2944368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F57F17"/>
          </a:solidFill>
          <a:ln w="19050">
            <a:solidFill>
              <a:srgbClr val="F57F1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64592" y="2944368"/>
            <a:ext cx="25603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QUOTED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444752" y="3291840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64592" y="338328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E6510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64592" y="3383280"/>
            <a:ext cx="25603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NEGOTIATION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444752" y="3730752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64592" y="3822192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64592" y="3822192"/>
            <a:ext cx="25603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AGREED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444752" y="4169664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64592" y="4261104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6A1B9A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64592" y="4261104"/>
            <a:ext cx="25603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PO_RAISED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444752" y="4608576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164592" y="4700016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1565C0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64592" y="4700016"/>
            <a:ext cx="25603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RECEIVED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444752" y="5138928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164592" y="5230368"/>
            <a:ext cx="2560320" cy="438912"/>
          </a:xfrm>
          <a:prstGeom prst="diamond">
            <a:avLst/>
          </a:prstGeom>
          <a:solidFill>
            <a:srgbClr val="E6510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64592" y="5230368"/>
            <a:ext cx="25603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Deal Outcome?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444752" y="5669280"/>
            <a:ext cx="0" cy="91440"/>
          </a:xfrm>
          <a:prstGeom prst="line">
            <a:avLst/>
          </a:prstGeom>
          <a:noFill/>
          <a:ln w="15240">
            <a:solidFill>
              <a:srgbClr val="2E7D32"/>
            </a:solidFill>
            <a:prstDash val="solid"/>
            <a:tailEnd type="arrow"/>
          </a:ln>
        </p:spPr>
      </p:sp>
      <p:sp>
        <p:nvSpPr>
          <p:cNvPr id="39" name="Text 37"/>
          <p:cNvSpPr/>
          <p:nvPr/>
        </p:nvSpPr>
        <p:spPr>
          <a:xfrm>
            <a:off x="987552" y="5623560"/>
            <a:ext cx="457200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7D32"/>
                </a:solidFill>
              </a:rPr>
              <a:t>WON↓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164592" y="57607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64592" y="5760720"/>
            <a:ext cx="25603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Create Lot + Link to Deal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24912" y="5449824"/>
            <a:ext cx="91440" cy="0"/>
          </a:xfrm>
          <a:prstGeom prst="line">
            <a:avLst/>
          </a:prstGeom>
          <a:noFill/>
          <a:ln w="15240">
            <a:solidFill>
              <a:srgbClr val="C62828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2816352" y="5230368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546E7A"/>
          </a:solidFill>
          <a:ln w="19050">
            <a:solidFill>
              <a:srgbClr val="546E7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816352" y="5230368"/>
            <a:ext cx="12801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Log Reason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 Archive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743200" y="5047488"/>
            <a:ext cx="54864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62828"/>
                </a:solidFill>
              </a:rPr>
              <a:t>LOST→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904488" y="493776"/>
            <a:ext cx="2331720" cy="6172200"/>
          </a:xfrm>
          <a:prstGeom prst="rect">
            <a:avLst/>
          </a:prstGeom>
          <a:solidFill>
            <a:srgbClr val="FFF3E0"/>
          </a:solidFill>
          <a:ln w="12700">
            <a:solidFill>
              <a:srgbClr val="F57F1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977640" y="5303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7F17"/>
                </a:solidFill>
              </a:rPr>
              <a:t>ACTIVITY LOG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7F17"/>
                </a:solidFill>
              </a:rPr>
              <a:t>(Every Stage)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77640" y="969264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57F1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977640" y="96926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Log Call / WhatsApp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074920" y="1499616"/>
            <a:ext cx="0" cy="146304"/>
          </a:xfrm>
          <a:prstGeom prst="line">
            <a:avLst/>
          </a:prstGeom>
          <a:noFill/>
          <a:ln w="15240">
            <a:solidFill>
              <a:srgbClr val="F57F17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3977640" y="164592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57F1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977640" y="164592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Log Site Visit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074920" y="2176272"/>
            <a:ext cx="0" cy="146304"/>
          </a:xfrm>
          <a:prstGeom prst="line">
            <a:avLst/>
          </a:prstGeom>
          <a:noFill/>
          <a:ln w="15240">
            <a:solidFill>
              <a:srgbClr val="F57F17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3977640" y="2322576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57F1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3977640" y="232257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Log Email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074920" y="2852928"/>
            <a:ext cx="0" cy="146304"/>
          </a:xfrm>
          <a:prstGeom prst="line">
            <a:avLst/>
          </a:prstGeom>
          <a:noFill/>
          <a:ln w="15240">
            <a:solidFill>
              <a:srgbClr val="F57F17"/>
            </a:solidFill>
            <a:prstDash val="solid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3977640" y="2999232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57F1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977640" y="299923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Set Next Follow-up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074920" y="3529584"/>
            <a:ext cx="0" cy="146304"/>
          </a:xfrm>
          <a:prstGeom prst="line">
            <a:avLst/>
          </a:prstGeom>
          <a:noFill/>
          <a:ln w="15240">
            <a:solidFill>
              <a:srgbClr val="F57F17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3977640" y="3675888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57F1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3977640" y="367588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Attach Documents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074920" y="4206240"/>
            <a:ext cx="0" cy="146304"/>
          </a:xfrm>
          <a:prstGeom prst="line">
            <a:avLst/>
          </a:prstGeom>
          <a:noFill/>
          <a:ln w="15240">
            <a:solidFill>
              <a:srgbClr val="F57F17"/>
            </a:solidFill>
            <a:prstDash val="solid"/>
            <a:tailEnd type="arrow"/>
          </a:ln>
        </p:spPr>
      </p:sp>
      <p:sp>
        <p:nvSpPr>
          <p:cNvPr id="63" name="Shape 61"/>
          <p:cNvSpPr/>
          <p:nvPr/>
        </p:nvSpPr>
        <p:spPr>
          <a:xfrm>
            <a:off x="3977640" y="4352544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57F1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3977640" y="435254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Update Stage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074920" y="4882896"/>
            <a:ext cx="0" cy="146304"/>
          </a:xfrm>
          <a:prstGeom prst="line">
            <a:avLst/>
          </a:prstGeom>
          <a:noFill/>
          <a:ln w="15240">
            <a:solidFill>
              <a:srgbClr val="F57F17"/>
            </a:solidFill>
            <a:prstDash val="solid"/>
            <a:tailEnd type="arrow"/>
          </a:ln>
        </p:spPr>
      </p:sp>
      <p:sp>
        <p:nvSpPr>
          <p:cNvPr id="66" name="Shape 64"/>
          <p:cNvSpPr/>
          <p:nvPr/>
        </p:nvSpPr>
        <p:spPr>
          <a:xfrm>
            <a:off x="3977640" y="502920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57F1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3977640" y="502920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Record Deal Value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074920" y="5559552"/>
            <a:ext cx="0" cy="146304"/>
          </a:xfrm>
          <a:prstGeom prst="line">
            <a:avLst/>
          </a:prstGeom>
          <a:noFill/>
          <a:ln w="15240">
            <a:solidFill>
              <a:srgbClr val="F57F17"/>
            </a:solidFill>
            <a:prstDash val="solid"/>
            <a:tailEnd type="arrow"/>
          </a:ln>
        </p:spPr>
      </p:sp>
      <p:sp>
        <p:nvSpPr>
          <p:cNvPr id="69" name="Shape 67"/>
          <p:cNvSpPr/>
          <p:nvPr/>
        </p:nvSpPr>
        <p:spPr>
          <a:xfrm>
            <a:off x="3977640" y="5705856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57F1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3977640" y="570585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Track Conversion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24912" y="1828800"/>
            <a:ext cx="1179576" cy="0"/>
          </a:xfrm>
          <a:prstGeom prst="line">
            <a:avLst/>
          </a:prstGeom>
          <a:noFill/>
          <a:ln w="15240">
            <a:solidFill>
              <a:srgbClr val="F57F17"/>
            </a:solidFill>
            <a:prstDash val="solid"/>
            <a:tailEnd type="arrow"/>
          </a:ln>
        </p:spPr>
      </p:sp>
      <p:sp>
        <p:nvSpPr>
          <p:cNvPr id="72" name="Shape 70"/>
          <p:cNvSpPr/>
          <p:nvPr/>
        </p:nvSpPr>
        <p:spPr>
          <a:xfrm>
            <a:off x="6236208" y="1828800"/>
            <a:ext cx="210312" cy="0"/>
          </a:xfrm>
          <a:prstGeom prst="line">
            <a:avLst/>
          </a:prstGeom>
          <a:noFill/>
          <a:ln w="15240">
            <a:solidFill>
              <a:srgbClr val="F57F17"/>
            </a:solidFill>
            <a:prstDash val="solid"/>
            <a:tailEnd type="arrow"/>
          </a:ln>
        </p:spPr>
      </p:sp>
      <p:sp>
        <p:nvSpPr>
          <p:cNvPr id="73" name="Text 71"/>
          <p:cNvSpPr/>
          <p:nvPr/>
        </p:nvSpPr>
        <p:spPr>
          <a:xfrm>
            <a:off x="2724912" y="1719072"/>
            <a:ext cx="1179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57F17"/>
                </a:solidFill>
              </a:rPr>
              <a:t>→ Every stage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6510528" y="493776"/>
            <a:ext cx="2798064" cy="6172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6583680" y="5120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SALES PIPELINE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583680" y="566928"/>
            <a:ext cx="2651760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6583680" y="566928"/>
            <a:ext cx="2651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New Buyer Contact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909560" y="1005840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79" name="Shape 77"/>
          <p:cNvSpPr/>
          <p:nvPr/>
        </p:nvSpPr>
        <p:spPr>
          <a:xfrm>
            <a:off x="6583680" y="1097280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6583680" y="1097280"/>
            <a:ext cx="26517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Sales Opportunity Created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909560" y="1536192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82" name="Shape 80"/>
          <p:cNvSpPr/>
          <p:nvPr/>
        </p:nvSpPr>
        <p:spPr>
          <a:xfrm>
            <a:off x="6583680" y="1627632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546E7A"/>
          </a:solidFill>
          <a:ln w="19050">
            <a:solidFill>
              <a:srgbClr val="546E7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6583680" y="1627632"/>
            <a:ext cx="265176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LEAD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7909560" y="1938528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85" name="Shape 83"/>
          <p:cNvSpPr/>
          <p:nvPr/>
        </p:nvSpPr>
        <p:spPr>
          <a:xfrm>
            <a:off x="6583680" y="2029968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1565C0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6583680" y="2029968"/>
            <a:ext cx="265176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CONTACTED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7909560" y="2340864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88" name="Shape 86"/>
          <p:cNvSpPr/>
          <p:nvPr/>
        </p:nvSpPr>
        <p:spPr>
          <a:xfrm>
            <a:off x="6583680" y="2432304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00695C"/>
          </a:solidFill>
          <a:ln w="19050">
            <a:solidFill>
              <a:srgbClr val="0069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6583680" y="2432304"/>
            <a:ext cx="265176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REQUIREMENT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7909560" y="2743200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91" name="Shape 89"/>
          <p:cNvSpPr/>
          <p:nvPr/>
        </p:nvSpPr>
        <p:spPr>
          <a:xfrm>
            <a:off x="6583680" y="2834640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6A1B9A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6583680" y="2834640"/>
            <a:ext cx="265176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AVAILABILITY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7909560" y="3145536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94" name="Shape 92"/>
          <p:cNvSpPr/>
          <p:nvPr/>
        </p:nvSpPr>
        <p:spPr>
          <a:xfrm>
            <a:off x="6583680" y="3236976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F57F17"/>
          </a:solidFill>
          <a:ln w="19050">
            <a:solidFill>
              <a:srgbClr val="F57F1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6583680" y="3236976"/>
            <a:ext cx="265176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QUOTED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7909560" y="3547872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97" name="Shape 95"/>
          <p:cNvSpPr/>
          <p:nvPr/>
        </p:nvSpPr>
        <p:spPr>
          <a:xfrm>
            <a:off x="6583680" y="3639312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E6510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6583680" y="3639312"/>
            <a:ext cx="265176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NEGOTIATION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7909560" y="3950208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00" name="Shape 98"/>
          <p:cNvSpPr/>
          <p:nvPr/>
        </p:nvSpPr>
        <p:spPr>
          <a:xfrm>
            <a:off x="6583680" y="4041648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2E7D32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01" name="Text 99"/>
          <p:cNvSpPr/>
          <p:nvPr/>
        </p:nvSpPr>
        <p:spPr>
          <a:xfrm>
            <a:off x="6583680" y="4041648"/>
            <a:ext cx="265176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CONFIRMED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7909560" y="4352544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03" name="Shape 101"/>
          <p:cNvSpPr/>
          <p:nvPr/>
        </p:nvSpPr>
        <p:spPr>
          <a:xfrm>
            <a:off x="6583680" y="4443984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1565C0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6583680" y="4443984"/>
            <a:ext cx="265176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INVOICED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7909560" y="4754880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06" name="Shape 104"/>
          <p:cNvSpPr/>
          <p:nvPr/>
        </p:nvSpPr>
        <p:spPr>
          <a:xfrm>
            <a:off x="6583680" y="4846320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00695C"/>
          </a:solidFill>
          <a:ln w="19050">
            <a:solidFill>
              <a:srgbClr val="0069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07" name="Text 105"/>
          <p:cNvSpPr/>
          <p:nvPr/>
        </p:nvSpPr>
        <p:spPr>
          <a:xfrm>
            <a:off x="6583680" y="4846320"/>
            <a:ext cx="265176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DELIVERED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7909560" y="5157216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09" name="Shape 107"/>
          <p:cNvSpPr/>
          <p:nvPr/>
        </p:nvSpPr>
        <p:spPr>
          <a:xfrm>
            <a:off x="6583680" y="5248656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2E7D32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0" name="Text 108"/>
          <p:cNvSpPr/>
          <p:nvPr/>
        </p:nvSpPr>
        <p:spPr>
          <a:xfrm>
            <a:off x="6583680" y="5248656"/>
            <a:ext cx="265176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PAYMENT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7909560" y="5650992"/>
            <a:ext cx="0" cy="8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12" name="Shape 110"/>
          <p:cNvSpPr/>
          <p:nvPr/>
        </p:nvSpPr>
        <p:spPr>
          <a:xfrm>
            <a:off x="6583680" y="5742432"/>
            <a:ext cx="2651760" cy="438912"/>
          </a:xfrm>
          <a:prstGeom prst="diamond">
            <a:avLst/>
          </a:prstGeom>
          <a:solidFill>
            <a:srgbClr val="E6510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3" name="Text 111"/>
          <p:cNvSpPr/>
          <p:nvPr/>
        </p:nvSpPr>
        <p:spPr>
          <a:xfrm>
            <a:off x="6583680" y="5742432"/>
            <a:ext cx="26517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Deal Outcome?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7909560" y="6181344"/>
            <a:ext cx="0" cy="91440"/>
          </a:xfrm>
          <a:prstGeom prst="line">
            <a:avLst/>
          </a:prstGeom>
          <a:noFill/>
          <a:ln w="15240">
            <a:solidFill>
              <a:srgbClr val="2E7D32"/>
            </a:solidFill>
            <a:prstDash val="solid"/>
            <a:tailEnd type="arrow"/>
          </a:ln>
        </p:spPr>
      </p:sp>
      <p:sp>
        <p:nvSpPr>
          <p:cNvPr id="115" name="Text 113"/>
          <p:cNvSpPr/>
          <p:nvPr/>
        </p:nvSpPr>
        <p:spPr>
          <a:xfrm>
            <a:off x="7452360" y="6135624"/>
            <a:ext cx="457200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7D32"/>
                </a:solidFill>
              </a:rPr>
              <a:t>WON↓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6583680" y="6272784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7" name="Text 115"/>
          <p:cNvSpPr/>
          <p:nvPr/>
        </p:nvSpPr>
        <p:spPr>
          <a:xfrm>
            <a:off x="6583680" y="6272784"/>
            <a:ext cx="26517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Link to Sale Record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9235440" y="5961888"/>
            <a:ext cx="109728" cy="0"/>
          </a:xfrm>
          <a:prstGeom prst="line">
            <a:avLst/>
          </a:prstGeom>
          <a:noFill/>
          <a:ln w="15240">
            <a:solidFill>
              <a:srgbClr val="C62828"/>
            </a:solidFill>
            <a:prstDash val="solid"/>
            <a:tailEnd type="arrow"/>
          </a:ln>
        </p:spPr>
      </p:sp>
      <p:sp>
        <p:nvSpPr>
          <p:cNvPr id="119" name="Shape 117"/>
          <p:cNvSpPr/>
          <p:nvPr/>
        </p:nvSpPr>
        <p:spPr>
          <a:xfrm>
            <a:off x="9345168" y="5742432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546E7A"/>
          </a:solidFill>
          <a:ln w="19050">
            <a:solidFill>
              <a:srgbClr val="546E7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0" name="Text 118"/>
          <p:cNvSpPr/>
          <p:nvPr/>
        </p:nvSpPr>
        <p:spPr>
          <a:xfrm>
            <a:off x="9345168" y="5742432"/>
            <a:ext cx="12801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Log Reason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 Archive</a:t>
            </a:r>
            <a:endParaRPr lang="en-US" sz="750" dirty="0"/>
          </a:p>
        </p:txBody>
      </p:sp>
      <p:sp>
        <p:nvSpPr>
          <p:cNvPr id="121" name="Text 119"/>
          <p:cNvSpPr/>
          <p:nvPr/>
        </p:nvSpPr>
        <p:spPr>
          <a:xfrm>
            <a:off x="9272016" y="5559552"/>
            <a:ext cx="54864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62828"/>
                </a:solidFill>
              </a:rPr>
              <a:t>LOST→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1188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System Architecture  |  OxyPC Inventory ERP — Infrastructure &amp; Security Layers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D1B6B"/>
          </a:solidFill>
          <a:ln w="12700">
            <a:solidFill>
              <a:srgbClr val="0D1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0"/>
            <a:ext cx="1188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System Architecture  |  OxyPC Inventory ERP — Infrastructure &amp; Security Layers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" y="548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i="1" dirty="0">
                <a:solidFill>
                  <a:srgbClr val="7BA7D4"/>
                </a:solidFill>
              </a:rPr>
              <a:t>CLIENT LAYER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1508760" y="685800"/>
            <a:ext cx="10515600" cy="0"/>
          </a:xfrm>
          <a:prstGeom prst="line">
            <a:avLst/>
          </a:prstGeom>
          <a:noFill/>
          <a:ln w="6350">
            <a:solidFill>
              <a:srgbClr val="2A3B9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144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i="1" dirty="0">
                <a:solidFill>
                  <a:srgbClr val="7BA7D4"/>
                </a:solidFill>
              </a:rPr>
              <a:t>INGRESS / PROXY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508760" y="1371600"/>
            <a:ext cx="10515600" cy="0"/>
          </a:xfrm>
          <a:prstGeom prst="line">
            <a:avLst/>
          </a:prstGeom>
          <a:noFill/>
          <a:ln w="6350">
            <a:solidFill>
              <a:srgbClr val="2A3B9A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1440" y="1810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i="1" dirty="0">
                <a:solidFill>
                  <a:srgbClr val="7BA7D4"/>
                </a:solidFill>
              </a:rPr>
              <a:t>APPLICATION LAYER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508760" y="1947672"/>
            <a:ext cx="10515600" cy="0"/>
          </a:xfrm>
          <a:prstGeom prst="line">
            <a:avLst/>
          </a:prstGeom>
          <a:noFill/>
          <a:ln w="6350">
            <a:solidFill>
              <a:srgbClr val="2A3B9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1440" y="24963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i="1" dirty="0">
                <a:solidFill>
                  <a:srgbClr val="7BA7D4"/>
                </a:solidFill>
              </a:rPr>
              <a:t>SECURITY MIDDLEWARE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508760" y="2633472"/>
            <a:ext cx="10515600" cy="0"/>
          </a:xfrm>
          <a:prstGeom prst="line">
            <a:avLst/>
          </a:prstGeom>
          <a:noFill/>
          <a:ln w="6350">
            <a:solidFill>
              <a:srgbClr val="2A3B9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1440" y="3246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i="1" dirty="0">
                <a:solidFill>
                  <a:srgbClr val="7BA7D4"/>
                </a:solidFill>
              </a:rPr>
              <a:t>DATA ACCESS LAYER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508760" y="3383280"/>
            <a:ext cx="10515600" cy="0"/>
          </a:xfrm>
          <a:prstGeom prst="line">
            <a:avLst/>
          </a:prstGeom>
          <a:noFill/>
          <a:ln w="6350">
            <a:solidFill>
              <a:srgbClr val="2A3B9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9144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i="1" dirty="0">
                <a:solidFill>
                  <a:srgbClr val="7BA7D4"/>
                </a:solidFill>
              </a:rPr>
              <a:t>DATABASE LAYER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508760" y="4069080"/>
            <a:ext cx="10515600" cy="0"/>
          </a:xfrm>
          <a:prstGeom prst="line">
            <a:avLst/>
          </a:prstGeom>
          <a:noFill/>
          <a:ln w="6350">
            <a:solidFill>
              <a:srgbClr val="2A3B9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9144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i="1" dirty="0">
                <a:solidFill>
                  <a:srgbClr val="7BA7D4"/>
                </a:solidFill>
              </a:rPr>
              <a:t>BACKUP / DR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1508760" y="4754880"/>
            <a:ext cx="10515600" cy="0"/>
          </a:xfrm>
          <a:prstGeom prst="line">
            <a:avLst/>
          </a:prstGeom>
          <a:noFill/>
          <a:ln w="6350">
            <a:solidFill>
              <a:srgbClr val="2A3B9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645920" y="566928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0D3B7A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645920" y="566928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LAN Browser Users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(React Frontend)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83480" y="566928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0D3B7A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566928"/>
            <a:ext cx="21945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OxyQC EXE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(Windows Desktop)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321040" y="566928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0D3B7A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21040" y="566928"/>
            <a:ext cx="21945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WhatsApp Business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(WA Web API)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651760" y="1042416"/>
            <a:ext cx="0" cy="210312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6080760" y="1042416"/>
            <a:ext cx="0" cy="210312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9418320" y="1042416"/>
            <a:ext cx="0" cy="210312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2286000" y="1261872"/>
            <a:ext cx="7498080" cy="457200"/>
          </a:xfrm>
          <a:prstGeom prst="roundRect">
            <a:avLst>
              <a:gd name="adj" fmla="val 20000"/>
            </a:avLst>
          </a:prstGeom>
          <a:solidFill>
            <a:srgbClr val="1A2C80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286000" y="1261872"/>
            <a:ext cx="74980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nginx Reverse Proxy — :80 / :443  (SSL Termination, Static Files, Load Balancing)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35040" y="1719072"/>
            <a:ext cx="0" cy="109728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2286000" y="1847088"/>
            <a:ext cx="7498080" cy="530352"/>
          </a:xfrm>
          <a:prstGeom prst="roundRect">
            <a:avLst>
              <a:gd name="adj" fmla="val 17241"/>
            </a:avLst>
          </a:prstGeom>
          <a:solidFill>
            <a:srgbClr val="1A2C80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286000" y="1847088"/>
            <a:ext cx="74980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FastAPI Application — 4 Uvicorn Workers — Port :8000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(REST API, WebSocket, Background Tasks)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35040" y="2377440"/>
            <a:ext cx="0" cy="13716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1645920" y="2523744"/>
            <a:ext cx="1938528" cy="548640"/>
          </a:xfrm>
          <a:prstGeom prst="roundRect">
            <a:avLst>
              <a:gd name="adj" fmla="val 13333"/>
            </a:avLst>
          </a:prstGeom>
          <a:solidFill>
            <a:srgbClr val="1B3A8F"/>
          </a:solidFill>
          <a:ln w="12700">
            <a:solidFill>
              <a:srgbClr val="5C7CF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645920" y="2523744"/>
            <a:ext cx="1938528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JWT Cookie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Authentication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794760" y="2523744"/>
            <a:ext cx="1938528" cy="548640"/>
          </a:xfrm>
          <a:prstGeom prst="roundRect">
            <a:avLst>
              <a:gd name="adj" fmla="val 13333"/>
            </a:avLst>
          </a:prstGeom>
          <a:solidFill>
            <a:srgbClr val="1B3A8F"/>
          </a:solidFill>
          <a:ln w="12700">
            <a:solidFill>
              <a:srgbClr val="5C7CF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794760" y="2523744"/>
            <a:ext cx="1938528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CSRF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Protection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897880" y="2523744"/>
            <a:ext cx="1938528" cy="548640"/>
          </a:xfrm>
          <a:prstGeom prst="roundRect">
            <a:avLst>
              <a:gd name="adj" fmla="val 13333"/>
            </a:avLst>
          </a:prstGeom>
          <a:solidFill>
            <a:srgbClr val="1B3A8F"/>
          </a:solidFill>
          <a:ln w="12700">
            <a:solidFill>
              <a:srgbClr val="5C7CF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897880" y="2523744"/>
            <a:ext cx="1938528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RBAC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11 Roles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001000" y="2523744"/>
            <a:ext cx="1938528" cy="548640"/>
          </a:xfrm>
          <a:prstGeom prst="roundRect">
            <a:avLst>
              <a:gd name="adj" fmla="val 13333"/>
            </a:avLst>
          </a:prstGeom>
          <a:solidFill>
            <a:srgbClr val="1B3A8F"/>
          </a:solidFill>
          <a:ln w="12700">
            <a:solidFill>
              <a:srgbClr val="5C7CF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001000" y="2523744"/>
            <a:ext cx="1938528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Rate Limiter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30 req/min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058400" y="2523744"/>
            <a:ext cx="1938528" cy="548640"/>
          </a:xfrm>
          <a:prstGeom prst="roundRect">
            <a:avLst>
              <a:gd name="adj" fmla="val 13333"/>
            </a:avLst>
          </a:prstGeom>
          <a:solidFill>
            <a:srgbClr val="1B3A8F"/>
          </a:solidFill>
          <a:ln w="12700">
            <a:solidFill>
              <a:srgbClr val="5C7CF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0058400" y="2523744"/>
            <a:ext cx="1938528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Input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Validation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035040" y="3072384"/>
            <a:ext cx="0" cy="192024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2286000" y="3273552"/>
            <a:ext cx="7498080" cy="457200"/>
          </a:xfrm>
          <a:prstGeom prst="roundRect">
            <a:avLst>
              <a:gd name="adj" fmla="val 20000"/>
            </a:avLst>
          </a:prstGeom>
          <a:solidFill>
            <a:srgbClr val="1A2C80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286000" y="3273552"/>
            <a:ext cx="74980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SQLAlchemy 2.0 ORM (async)  —  Alembic Migrations  —  Connection Pooling (asyncpg)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035040" y="3730752"/>
            <a:ext cx="0" cy="219456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2286000" y="3959352"/>
            <a:ext cx="7498080" cy="502920"/>
          </a:xfrm>
          <a:prstGeom prst="roundRect">
            <a:avLst>
              <a:gd name="adj" fmla="val 18182"/>
            </a:avLst>
          </a:prstGeom>
          <a:solidFill>
            <a:srgbClr val="0D3B7A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286000" y="3959352"/>
            <a:ext cx="7498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PostgreSQL 15  —  35+ Tables  —  pgvector  —  Row Level Security  —  Audit Triggers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35040" y="4462272"/>
            <a:ext cx="0" cy="173736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2286000" y="4645152"/>
            <a:ext cx="7498080" cy="411480"/>
          </a:xfrm>
          <a:prstGeom prst="roundRect">
            <a:avLst>
              <a:gd name="adj" fmla="val 22222"/>
            </a:avLst>
          </a:prstGeom>
          <a:solidFill>
            <a:srgbClr val="0D3B7A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286000" y="4645152"/>
            <a:ext cx="74980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pg_dump Nightly Backup  —  Offsite Geo-Redundant Storage  —  PITR  —  Quarterly Restore Tests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869680" y="1847088"/>
            <a:ext cx="3108960" cy="2286000"/>
          </a:xfrm>
          <a:prstGeom prst="roundRect">
            <a:avLst>
              <a:gd name="adj" fmla="val 4800"/>
            </a:avLst>
          </a:prstGeom>
          <a:solidFill>
            <a:srgbClr val="0D2E5E"/>
          </a:solidFill>
          <a:ln w="19050">
            <a:solidFill>
              <a:srgbClr val="25D36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4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961120" y="18653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D366"/>
                </a:solidFill>
              </a:rPr>
              <a:t>WhatsApp Service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034272" y="2176272"/>
            <a:ext cx="2779776" cy="402336"/>
          </a:xfrm>
          <a:prstGeom prst="roundRect">
            <a:avLst>
              <a:gd name="adj" fmla="val 22727"/>
            </a:avLst>
          </a:prstGeom>
          <a:solidFill>
            <a:srgbClr val="0D3B7A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9034272" y="2176272"/>
            <a:ext cx="2779776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Node.js Service — :3001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424160" y="2578608"/>
            <a:ext cx="0" cy="12801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59" name="Shape 57"/>
          <p:cNvSpPr/>
          <p:nvPr/>
        </p:nvSpPr>
        <p:spPr>
          <a:xfrm>
            <a:off x="9034272" y="2715768"/>
            <a:ext cx="2779776" cy="402336"/>
          </a:xfrm>
          <a:prstGeom prst="roundRect">
            <a:avLst>
              <a:gd name="adj" fmla="val 22727"/>
            </a:avLst>
          </a:prstGeom>
          <a:solidFill>
            <a:srgbClr val="0D3B7A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9034272" y="2715768"/>
            <a:ext cx="2779776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whatsapp-web.js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0424160" y="3118104"/>
            <a:ext cx="0" cy="12801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2" name="Shape 60"/>
          <p:cNvSpPr/>
          <p:nvPr/>
        </p:nvSpPr>
        <p:spPr>
          <a:xfrm>
            <a:off x="9034272" y="3255264"/>
            <a:ext cx="2779776" cy="402336"/>
          </a:xfrm>
          <a:prstGeom prst="roundRect">
            <a:avLst>
              <a:gd name="adj" fmla="val 22727"/>
            </a:avLst>
          </a:prstGeom>
          <a:solidFill>
            <a:srgbClr val="128C7E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9034272" y="3255264"/>
            <a:ext cx="2779776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WhatsApp Business API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955280" y="2112264"/>
            <a:ext cx="1078992" cy="0"/>
          </a:xfrm>
          <a:prstGeom prst="line">
            <a:avLst/>
          </a:prstGeom>
          <a:noFill/>
          <a:ln w="15240">
            <a:solidFill>
              <a:srgbClr val="25D366"/>
            </a:solidFill>
            <a:prstDash val="dash"/>
            <a:tailEnd type="arrow"/>
          </a:ln>
        </p:spPr>
      </p:sp>
      <p:sp>
        <p:nvSpPr>
          <p:cNvPr id="65" name="Text 63"/>
          <p:cNvSpPr/>
          <p:nvPr/>
        </p:nvSpPr>
        <p:spPr>
          <a:xfrm>
            <a:off x="7973568" y="195681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5D366"/>
                </a:solidFill>
              </a:rPr>
              <a:t>WA triggers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4983480" y="804672"/>
            <a:ext cx="-2011680" cy="0"/>
          </a:xfrm>
          <a:prstGeom prst="line">
            <a:avLst/>
          </a:prstGeom>
          <a:noFill/>
          <a:ln w="12700">
            <a:solidFill>
              <a:srgbClr val="42A5F5"/>
            </a:solidFill>
            <a:prstDash val="dash"/>
            <a:tailEnd type="arrow"/>
          </a:ln>
        </p:spPr>
      </p:sp>
      <p:sp>
        <p:nvSpPr>
          <p:cNvPr id="67" name="Text 65"/>
          <p:cNvSpPr/>
          <p:nvPr/>
        </p:nvSpPr>
        <p:spPr>
          <a:xfrm>
            <a:off x="3291840" y="62179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BA7D4"/>
                </a:solidFill>
              </a:rPr>
              <a:t>HTTP/HTTPS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554480" y="5193792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BA7D4"/>
                </a:solidFill>
              </a:rPr>
              <a:t>All endpoints: OAuth 2.0  •  TLS 1.3  •  MFA enforced  •  No direct DB access from frontend  •  AI read-only via views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1188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RBAC Access Matrix  |  Role-Based Access Control — 9 Roles × 12 Modules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" y="566928"/>
          <a:ext cx="11521440" cy="5303520"/>
        </p:xfrm>
        <a:graphic>
          <a:graphicData uri="http://schemas.openxmlformats.org/drawingml/2006/table">
            <a:tbl>
              <a:tblPr/>
              <a:tblGrid>
                <a:gridCol w="1371600"/>
                <a:gridCol w="845820"/>
                <a:gridCol w="845820"/>
                <a:gridCol w="845820"/>
                <a:gridCol w="845820"/>
                <a:gridCol w="845820"/>
                <a:gridCol w="845820"/>
                <a:gridCol w="845820"/>
                <a:gridCol w="845820"/>
                <a:gridCol w="845820"/>
                <a:gridCol w="845820"/>
                <a:gridCol w="845820"/>
                <a:gridCol w="84582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Role / Module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GRN /</a:t>
                      </a:r>
                      <a:endParaRPr lang="en-US" sz="700" dirty="0"/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Inventory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IQC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L1</a:t>
                      </a:r>
                      <a:endParaRPr lang="en-US" sz="700" dirty="0"/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Repair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L2/L3</a:t>
                      </a:r>
                      <a:endParaRPr lang="en-US" sz="700" dirty="0"/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Repair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QC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Cosmetic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Sales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CRM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Finance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Reports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Admin</a:t>
                      </a:r>
                      <a:endParaRPr lang="en-US" sz="700" dirty="0"/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Panel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API</a:t>
                      </a:r>
                      <a:endParaRPr lang="en-US" sz="700" dirty="0"/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B3A8F"/>
                          </a:solidFill>
                        </a:rPr>
                        <a:t>Admin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B3A8F"/>
                          </a:solidFill>
                        </a:rPr>
                        <a:t>Manager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</a:rPr>
                        <a:t>IQC Engineer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695C"/>
                          </a:solidFill>
                        </a:rPr>
                        <a:t>L1 Technician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695C"/>
                          </a:solidFill>
                        </a:rPr>
                        <a:t>L2/L3 Technician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</a:rPr>
                        <a:t>QC Inspector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6A1B9A"/>
                          </a:solidFill>
                        </a:rPr>
                        <a:t>Cosmetic Team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695C"/>
                          </a:solidFill>
                        </a:rPr>
                        <a:t>Sales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546E7A"/>
                          </a:solidFill>
                        </a:rPr>
                        <a:t>Dealer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38328" y="5943600"/>
            <a:ext cx="201168" cy="20116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59436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✓ = Full Access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167128" y="5943600"/>
            <a:ext cx="201168" cy="201168"/>
          </a:xfrm>
          <a:prstGeom prst="rect">
            <a:avLst/>
          </a:prstGeom>
          <a:solidFill>
            <a:srgbClr val="FFF9C4"/>
          </a:solidFill>
          <a:ln w="12700">
            <a:solidFill>
              <a:srgbClr val="FFF9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23160" y="59436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R = Read-Only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995928" y="5943600"/>
            <a:ext cx="201168" cy="201168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51960" y="59436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— = No Access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824728" y="5943600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546E7A"/>
                </a:solidFill>
              </a:rPr>
              <a:t>* RBAC enforced at DB row-level AND application middleware  •  All roles require MFA  •  Quarterly access reviews mandatory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OxyPC Refurbishment ERP — Process Flowcharts</dc:title>
  <dc:subject>PptxGenJS Presentation</dc:subject>
  <dc:creator>OxyPC</dc:creator>
  <cp:lastModifiedBy>OxyPC</cp:lastModifiedBy>
  <cp:revision>1</cp:revision>
  <dcterms:created xsi:type="dcterms:W3CDTF">2026-04-27T10:07:28Z</dcterms:created>
  <dcterms:modified xsi:type="dcterms:W3CDTF">2026-04-27T10:07:28Z</dcterms:modified>
</cp:coreProperties>
</file>